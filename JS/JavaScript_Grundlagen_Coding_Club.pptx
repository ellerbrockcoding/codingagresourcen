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JavaScript – Grundlagen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HTML = Struktur  |  CSS = Aussehen  |  JavaScript = Verhalten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Eine kurze Einführung für den erweiterten Coding Club</a:t>
            </a:r>
          </a:p>
          <a:p>
            <a:pPr>
              <a:spcAft>
                <a:spcPts val="1000"/>
              </a:spcAft>
              <a:defRPr sz="1900"/>
            </a:pPr>
            <a:r>
              <a:t>JavaScript macht Webseiten interaktiv.</a:t>
            </a:r>
          </a:p>
          <a:p>
            <a:pPr>
              <a:spcAft>
                <a:spcPts val="1000"/>
              </a:spcAft>
              <a:defRPr sz="1900"/>
            </a:pPr>
            <a:r>
              <a:t>Wir arbeiten zunächst mit Variablen, Datentypen, Bedingungen, Schleifen und HTML-Elementen.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HTML + JavaScript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212080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 lang="de-DE" dirty="0"/>
              <a:t>JavaScript muss wie CSS in der HTML Datei verlinkt werden</a:t>
            </a:r>
          </a:p>
          <a:p>
            <a:pPr>
              <a:spcAft>
                <a:spcPts val="1000"/>
              </a:spcAft>
              <a:defRPr sz="1900"/>
            </a:pPr>
            <a:endParaRPr lang="de-DE" dirty="0"/>
          </a:p>
          <a:p>
            <a:pPr>
              <a:spcAft>
                <a:spcPts val="1000"/>
              </a:spcAft>
              <a:defRPr sz="1900"/>
            </a:pPr>
            <a:r>
              <a:rPr lang="de-DE" dirty="0"/>
              <a:t>JavaScript kann auf HTML-Elemente zugreifen und sie verändern.</a:t>
            </a:r>
          </a:p>
          <a:p>
            <a:pPr>
              <a:spcAft>
                <a:spcPts val="1000"/>
              </a:spcAft>
              <a:defRPr sz="1900"/>
            </a:pPr>
            <a:r>
              <a:rPr lang="de-DE" dirty="0"/>
              <a:t>Dafür brauchen wir meist eine eindeutige ID.</a:t>
            </a:r>
          </a:p>
          <a:p>
            <a:pPr>
              <a:spcAft>
                <a:spcPts val="1000"/>
              </a:spcAft>
              <a:defRPr sz="1900"/>
            </a:pPr>
            <a:r>
              <a:rPr lang="de-DE" dirty="0"/>
              <a:t>//Der Browser erstellt aus dem HTML eine DOM-Struktur (</a:t>
            </a:r>
            <a:r>
              <a:rPr lang="de-DE" dirty="0" err="1"/>
              <a:t>Document</a:t>
            </a:r>
            <a:r>
              <a:rPr lang="de-DE" dirty="0"/>
              <a:t> </a:t>
            </a:r>
            <a:r>
              <a:rPr lang="de-DE" dirty="0" err="1"/>
              <a:t>Object</a:t>
            </a:r>
            <a:r>
              <a:rPr lang="de-DE" dirty="0"/>
              <a:t> Model).</a:t>
            </a:r>
          </a:p>
          <a:p>
            <a:pPr>
              <a:spcAft>
                <a:spcPts val="1000"/>
              </a:spcAft>
              <a:defRPr sz="1900"/>
            </a:pP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126480" y="1234440"/>
            <a:ext cx="5303520" cy="50749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5080" y="1417320"/>
            <a:ext cx="4846320" cy="4054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de-DE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de-DE" sz="105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de-DE" sz="105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DE" sz="105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5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de-DE" sz="105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DE" sz="105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5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de-DE" sz="105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DE" sz="105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5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05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de-DE" sz="105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de-DE" sz="105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de-DE" sz="105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DE" sz="105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5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05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de-DE" sz="105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DE" sz="105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Starter Website</a:t>
            </a:r>
            <a:r>
              <a:rPr lang="de-DE" sz="105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de-DE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de-DE" sz="105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DE" sz="105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5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05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de-DE" sz="105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de-DE" sz="105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de-DE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05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de-DE" sz="105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"style.css"</a:t>
            </a:r>
            <a:r>
              <a:rPr lang="de-DE" sz="105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DE" sz="105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5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de-DE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de-DE" sz="105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de-DE" sz="105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r>
              <a:rPr lang="de-DE" sz="105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de-DE" sz="105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de-DE" sz="105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defRPr sz="1500">
                <a:latin typeface="Consolas"/>
              </a:defRPr>
            </a:pPr>
            <a:r>
              <a:rPr lang="de-DE" sz="105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		</a:t>
            </a:r>
            <a:endParaRPr lang="de-DE" sz="1050" dirty="0"/>
          </a:p>
          <a:p>
            <a:pPr lvl="2">
              <a:defRPr sz="1500">
                <a:latin typeface="Consolas"/>
              </a:defRPr>
            </a:pPr>
            <a:r>
              <a:rPr lang="de-DE" sz="1050" dirty="0"/>
              <a:t>&lt;h1 </a:t>
            </a:r>
            <a:r>
              <a:rPr lang="de-DE" sz="1050" dirty="0" err="1"/>
              <a:t>id</a:t>
            </a:r>
            <a:r>
              <a:rPr lang="de-DE" sz="1050" dirty="0"/>
              <a:t>="title"&gt;Hallo!&lt;/h1&gt;</a:t>
            </a:r>
            <a:br>
              <a:rPr lang="de-DE" sz="1050" dirty="0"/>
            </a:br>
            <a:r>
              <a:rPr lang="de-DE" sz="1050" dirty="0"/>
              <a:t>&lt;</a:t>
            </a:r>
            <a:r>
              <a:rPr lang="de-DE" sz="1050" dirty="0" err="1"/>
              <a:t>button</a:t>
            </a:r>
            <a:r>
              <a:rPr lang="de-DE" sz="1050" dirty="0"/>
              <a:t> </a:t>
            </a:r>
            <a:r>
              <a:rPr lang="de-DE" sz="1050" dirty="0" err="1"/>
              <a:t>id</a:t>
            </a:r>
            <a:r>
              <a:rPr lang="de-DE" sz="1050" dirty="0"/>
              <a:t>="</a:t>
            </a:r>
            <a:r>
              <a:rPr lang="de-DE" sz="1050" dirty="0" err="1"/>
              <a:t>btn</a:t>
            </a:r>
            <a:r>
              <a:rPr lang="de-DE" sz="1050" dirty="0"/>
              <a:t>"&gt;Klick mich&lt;/</a:t>
            </a:r>
            <a:r>
              <a:rPr lang="de-DE" sz="1050" dirty="0" err="1"/>
              <a:t>button</a:t>
            </a:r>
            <a:r>
              <a:rPr lang="de-DE" sz="1050" dirty="0"/>
              <a:t>&gt;</a:t>
            </a:r>
            <a:br>
              <a:rPr lang="de-DE" sz="1050" dirty="0"/>
            </a:br>
            <a:endParaRPr lang="de-DE" sz="1050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50" dirty="0">
                <a:solidFill>
                  <a:srgbClr val="808080"/>
                </a:solidFill>
                <a:latin typeface="Consolas" panose="020B0609020204030204" pitchFamily="49" charset="0"/>
              </a:rPr>
              <a:t>	&lt;/</a:t>
            </a:r>
            <a:r>
              <a:rPr lang="de-DE" sz="105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body</a:t>
            </a:r>
            <a:r>
              <a:rPr lang="de-DE" sz="105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de-DE" sz="105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de-DE" sz="105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de-DE" sz="105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"script.js"</a:t>
            </a:r>
            <a:r>
              <a:rPr lang="de-DE" sz="105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de-DE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de-DE" sz="105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DE" sz="105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05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de-DE" sz="1050" b="0" dirty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de-DE" sz="105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DE" sz="105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defRPr sz="1500">
                <a:latin typeface="Consolas"/>
              </a:defRPr>
            </a:pPr>
            <a:endParaRPr lang="de-DE" sz="1000" dirty="0"/>
          </a:p>
          <a:p>
            <a:pPr>
              <a:defRPr sz="1500">
                <a:latin typeface="Consolas"/>
              </a:defRPr>
            </a:pPr>
            <a:endParaRPr lang="de-DE" sz="1000" dirty="0"/>
          </a:p>
          <a:p>
            <a:pPr>
              <a:defRPr sz="1500">
                <a:latin typeface="Consolas"/>
              </a:defRPr>
            </a:pPr>
            <a:endParaRPr lang="de-DE" sz="1000" dirty="0"/>
          </a:p>
          <a:p>
            <a:pPr>
              <a:defRPr sz="1500">
                <a:latin typeface="Consolas"/>
              </a:defRPr>
            </a:pPr>
            <a:endParaRPr lang="de-DE" sz="1000" dirty="0"/>
          </a:p>
          <a:p>
            <a:pPr>
              <a:defRPr sz="1500">
                <a:latin typeface="Consolas"/>
              </a:defRPr>
            </a:pPr>
            <a:endParaRPr lang="de-DE" sz="1000" dirty="0"/>
          </a:p>
          <a:p>
            <a:pPr>
              <a:defRPr sz="1500">
                <a:latin typeface="Consolas"/>
              </a:defRPr>
            </a:pPr>
            <a:r>
              <a:rPr lang="de-DE" sz="1000" u="sng" dirty="0"/>
              <a:t>JAVASCRIPT SEITE</a:t>
            </a:r>
          </a:p>
          <a:p>
            <a:pPr>
              <a:defRPr sz="1500">
                <a:latin typeface="Consolas"/>
              </a:defRPr>
            </a:pPr>
            <a:br>
              <a:rPr sz="1000" dirty="0"/>
            </a:br>
            <a:r>
              <a:rPr sz="1000" dirty="0"/>
              <a:t>&lt;script&gt;</a:t>
            </a:r>
            <a:br>
              <a:rPr sz="1000" dirty="0"/>
            </a:br>
            <a:r>
              <a:rPr sz="1000" dirty="0"/>
              <a:t>  const title = </a:t>
            </a:r>
            <a:r>
              <a:rPr sz="1000" dirty="0" err="1"/>
              <a:t>document.getElementById</a:t>
            </a:r>
            <a:r>
              <a:rPr sz="1000" dirty="0"/>
              <a:t>("title");</a:t>
            </a:r>
            <a:br>
              <a:rPr sz="1000" dirty="0"/>
            </a:br>
            <a:r>
              <a:rPr sz="1000" dirty="0"/>
              <a:t>&lt;/script&gt;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Variablen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Variablen speichern Werte.</a:t>
            </a:r>
          </a:p>
          <a:p>
            <a:pPr>
              <a:spcAft>
                <a:spcPts val="1000"/>
              </a:spcAft>
              <a:defRPr sz="1900"/>
            </a:pPr>
            <a:r>
              <a:t>const: Wert soll nicht neu zugewiesen werden.</a:t>
            </a:r>
          </a:p>
          <a:p>
            <a:pPr>
              <a:spcAft>
                <a:spcPts val="1000"/>
              </a:spcAft>
              <a:defRPr sz="1900"/>
            </a:pPr>
            <a:r>
              <a:t>let: Wert darf später geändert werden.</a:t>
            </a:r>
          </a:p>
          <a:p>
            <a:pPr>
              <a:spcAft>
                <a:spcPts val="1000"/>
              </a:spcAft>
              <a:defRPr sz="1900"/>
            </a:pPr>
            <a:r>
              <a:t>var existiert ebenfalls, wird heute aber meist vermieden.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234440"/>
            <a:ext cx="5303520" cy="50749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5080" y="1417320"/>
            <a:ext cx="484632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onsolas"/>
              </a:defRPr>
            </a:pPr>
            <a:r>
              <a:rPr dirty="0"/>
              <a:t>const name = "André";</a:t>
            </a:r>
            <a:br>
              <a:rPr dirty="0"/>
            </a:br>
            <a:r>
              <a:rPr dirty="0"/>
              <a:t>let age = 1</a:t>
            </a:r>
            <a:r>
              <a:rPr lang="de-DE" dirty="0"/>
              <a:t>6</a:t>
            </a:r>
            <a:r>
              <a:rPr dirty="0"/>
              <a:t>;</a:t>
            </a:r>
            <a:br>
              <a:rPr dirty="0"/>
            </a:br>
            <a:br>
              <a:rPr dirty="0"/>
            </a:br>
            <a:r>
              <a:rPr dirty="0"/>
              <a:t>age = 1</a:t>
            </a:r>
            <a:r>
              <a:rPr lang="de-DE" dirty="0"/>
              <a:t>7</a:t>
            </a:r>
            <a:r>
              <a:rPr dirty="0"/>
              <a:t>;       // </a:t>
            </a:r>
            <a:r>
              <a:rPr dirty="0" err="1"/>
              <a:t>erlaubt</a:t>
            </a:r>
            <a:br>
              <a:rPr dirty="0"/>
            </a:br>
            <a:r>
              <a:rPr dirty="0"/>
              <a:t>// name = "Max"; // Fehler</a:t>
            </a:r>
            <a:br>
              <a:rPr dirty="0"/>
            </a:br>
            <a:br>
              <a:rPr dirty="0"/>
            </a:br>
            <a:r>
              <a:rPr dirty="0"/>
              <a:t>console.log(age);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Datentypen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string → Text: "Hallo"</a:t>
            </a:r>
          </a:p>
          <a:p>
            <a:pPr>
              <a:spcAft>
                <a:spcPts val="1000"/>
              </a:spcAft>
              <a:defRPr sz="1900"/>
            </a:pPr>
            <a:r>
              <a:t>number → Zahlen: 42, 3.14</a:t>
            </a:r>
          </a:p>
          <a:p>
            <a:pPr>
              <a:spcAft>
                <a:spcPts val="1000"/>
              </a:spcAft>
              <a:defRPr sz="1900"/>
            </a:pPr>
            <a:r>
              <a:t>boolean → true / false</a:t>
            </a:r>
          </a:p>
          <a:p>
            <a:pPr>
              <a:spcAft>
                <a:spcPts val="1000"/>
              </a:spcAft>
              <a:defRPr sz="1900"/>
            </a:pPr>
            <a:r>
              <a:t>undefined → noch kein Wert</a:t>
            </a:r>
          </a:p>
          <a:p>
            <a:pPr>
              <a:spcAft>
                <a:spcPts val="1000"/>
              </a:spcAft>
              <a:defRPr sz="1900"/>
            </a:pPr>
            <a:r>
              <a:t>null → bewusst „kein Wert“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234440"/>
            <a:ext cx="5303520" cy="50749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508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onsolas"/>
              </a:defRPr>
            </a:pPr>
            <a:r>
              <a:rPr dirty="0"/>
              <a:t>const name = "Alex";   // string</a:t>
            </a:r>
            <a:br>
              <a:rPr dirty="0"/>
            </a:br>
            <a:r>
              <a:rPr dirty="0"/>
              <a:t>const points = 42;       // number</a:t>
            </a:r>
            <a:br>
              <a:rPr dirty="0"/>
            </a:br>
            <a:r>
              <a:rPr dirty="0"/>
              <a:t>const online = true;     // </a:t>
            </a:r>
            <a:r>
              <a:rPr dirty="0" err="1"/>
              <a:t>boolean</a:t>
            </a:r>
            <a:br>
              <a:rPr dirty="0"/>
            </a:br>
            <a:br>
              <a:rPr dirty="0"/>
            </a:br>
            <a:r>
              <a:rPr dirty="0"/>
              <a:t>console.log(</a:t>
            </a:r>
            <a:r>
              <a:rPr dirty="0" err="1"/>
              <a:t>typeof</a:t>
            </a:r>
            <a:r>
              <a:rPr dirty="0"/>
              <a:t> points);</a:t>
            </a:r>
            <a:br>
              <a:rPr dirty="0"/>
            </a:br>
            <a:r>
              <a:rPr dirty="0"/>
              <a:t>// "number"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Operatoren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212080" cy="206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 dirty="0" err="1"/>
              <a:t>Arithmetik</a:t>
            </a:r>
            <a:r>
              <a:rPr dirty="0"/>
              <a:t>: +  −  *  /  %</a:t>
            </a:r>
          </a:p>
          <a:p>
            <a:pPr>
              <a:spcAft>
                <a:spcPts val="1000"/>
              </a:spcAft>
              <a:defRPr sz="1900"/>
            </a:pPr>
            <a:r>
              <a:rPr dirty="0" err="1"/>
              <a:t>Vergleiche</a:t>
            </a:r>
            <a:r>
              <a:rPr dirty="0"/>
              <a:t>: ===  !==  &gt;  &lt;  &gt;=  &lt;=</a:t>
            </a:r>
          </a:p>
          <a:p>
            <a:pPr>
              <a:spcAft>
                <a:spcPts val="1000"/>
              </a:spcAft>
              <a:defRPr sz="1900"/>
            </a:pPr>
            <a:r>
              <a:rPr dirty="0" err="1"/>
              <a:t>Logik</a:t>
            </a:r>
            <a:r>
              <a:rPr dirty="0"/>
              <a:t>: &amp;&amp; (und), || (</a:t>
            </a:r>
            <a:r>
              <a:rPr dirty="0" err="1"/>
              <a:t>oder</a:t>
            </a:r>
            <a:r>
              <a:rPr dirty="0"/>
              <a:t>), ! (</a:t>
            </a:r>
            <a:r>
              <a:rPr dirty="0" err="1"/>
              <a:t>nicht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1900"/>
            </a:pPr>
            <a:r>
              <a:rPr dirty="0" err="1"/>
              <a:t>Wichtig</a:t>
            </a:r>
            <a:r>
              <a:rPr dirty="0"/>
              <a:t>: === </a:t>
            </a:r>
            <a:r>
              <a:rPr dirty="0" err="1"/>
              <a:t>vergleicht</a:t>
            </a:r>
            <a:r>
              <a:rPr dirty="0"/>
              <a:t> Wert UND </a:t>
            </a:r>
            <a:r>
              <a:rPr dirty="0" err="1"/>
              <a:t>Datentyp</a:t>
            </a:r>
            <a:r>
              <a:rPr dirty="0"/>
              <a:t>.</a:t>
            </a:r>
            <a:endParaRPr lang="de-DE" dirty="0"/>
          </a:p>
          <a:p>
            <a:pPr>
              <a:spcAft>
                <a:spcPts val="1000"/>
              </a:spcAft>
              <a:defRPr sz="1900"/>
            </a:pPr>
            <a:r>
              <a:rPr lang="de-DE" dirty="0"/>
              <a:t>Vergleichen ist </a:t>
            </a:r>
            <a:r>
              <a:rPr lang="de-DE" b="1" dirty="0"/>
              <a:t>NICHT = </a:t>
            </a:r>
            <a:r>
              <a:rPr lang="de-DE" dirty="0"/>
              <a:t>oder</a:t>
            </a:r>
            <a:r>
              <a:rPr lang="de-DE" b="1" dirty="0"/>
              <a:t> ==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126480" y="1234440"/>
            <a:ext cx="5303520" cy="50749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508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onsolas"/>
              </a:defRPr>
            </a:pPr>
            <a:r>
              <a:t>const age = 15;</a:t>
            </a:r>
            <a:br/>
            <a:br/>
            <a:r>
              <a:t>console.log(age &gt;= 14);  // true</a:t>
            </a:r>
            <a:br/>
            <a:r>
              <a:t>console.log(age === 15); // true</a:t>
            </a:r>
            <a:br/>
            <a:br/>
            <a:r>
              <a:t>const member = true;</a:t>
            </a:r>
            <a:br/>
            <a:r>
              <a:t>console.log(age &gt;= 14 &amp;&amp; member); // true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if / else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Mit if entscheidet das Programm abhängig von einer Bedingung.</a:t>
            </a:r>
          </a:p>
          <a:p>
            <a:pPr>
              <a:spcAft>
                <a:spcPts val="1000"/>
              </a:spcAft>
              <a:defRPr sz="1900"/>
            </a:pPr>
            <a:r>
              <a:t>else wird ausgeführt, wenn die Bedingung false ist.</a:t>
            </a:r>
          </a:p>
          <a:p>
            <a:pPr>
              <a:spcAft>
                <a:spcPts val="1000"/>
              </a:spcAft>
              <a:defRPr sz="1900"/>
            </a:pPr>
            <a:r>
              <a:t>Mit else if können mehrere Fälle geprüft werden.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234440"/>
            <a:ext cx="5303520" cy="50749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508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onsolas"/>
              </a:defRPr>
            </a:pPr>
            <a:r>
              <a:t>const age = 15;</a:t>
            </a:r>
            <a:br/>
            <a:br/>
            <a:r>
              <a:t>if (age &gt;= 18) {</a:t>
            </a:r>
            <a:br/>
            <a:r>
              <a:t>  console.log("Volljährig");</a:t>
            </a:r>
            <a:br/>
            <a:r>
              <a:t>} else if (age &gt;= 14) {</a:t>
            </a:r>
            <a:br/>
            <a:r>
              <a:t>  console.log("Fast erwachsen");</a:t>
            </a:r>
            <a:br/>
            <a:r>
              <a:t>} else {</a:t>
            </a:r>
            <a:br/>
            <a:r>
              <a:t>  console.log("Noch jünger");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Kontrollstrukturen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Kontrollstrukturen bestimmen, welche Anweisungen wann ausgeführt werden.</a:t>
            </a:r>
          </a:p>
          <a:p>
            <a:pPr>
              <a:spcAft>
                <a:spcPts val="1000"/>
              </a:spcAft>
              <a:defRPr sz="1900"/>
            </a:pPr>
            <a:r>
              <a:t>Sequenz → Anweisungen nacheinander</a:t>
            </a:r>
          </a:p>
          <a:p>
            <a:pPr>
              <a:spcAft>
                <a:spcPts val="1000"/>
              </a:spcAft>
              <a:defRPr sz="1900"/>
            </a:pPr>
            <a:r>
              <a:t>Auswahl → if / else</a:t>
            </a:r>
          </a:p>
          <a:p>
            <a:pPr>
              <a:spcAft>
                <a:spcPts val="1000"/>
              </a:spcAft>
              <a:defRPr sz="1900"/>
            </a:pPr>
            <a:r>
              <a:t>Wiederholung → Schleifen</a:t>
            </a:r>
          </a:p>
          <a:p>
            <a:pPr>
              <a:spcAft>
                <a:spcPts val="1000"/>
              </a:spcAft>
              <a:defRPr sz="1900"/>
            </a:pPr>
            <a:r>
              <a:t>Wir schauen uns zunächst die for-Schleife 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234440"/>
            <a:ext cx="5303520" cy="50749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5080" y="1417320"/>
            <a:ext cx="4846320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onsolas"/>
              </a:defRPr>
            </a:pPr>
            <a:r>
              <a:rPr dirty="0"/>
              <a:t>console.log("1");</a:t>
            </a:r>
            <a:br>
              <a:rPr dirty="0"/>
            </a:br>
            <a:r>
              <a:rPr dirty="0"/>
              <a:t>console.log("2");</a:t>
            </a:r>
            <a:br>
              <a:rPr dirty="0"/>
            </a:br>
            <a:br>
              <a:rPr dirty="0"/>
            </a:br>
            <a:r>
              <a:rPr dirty="0"/>
              <a:t>if (condition) {</a:t>
            </a:r>
            <a:br>
              <a:rPr dirty="0"/>
            </a:br>
            <a:r>
              <a:rPr dirty="0"/>
              <a:t>  // </a:t>
            </a:r>
            <a:r>
              <a:rPr dirty="0" err="1"/>
              <a:t>Auswahl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for (let </a:t>
            </a:r>
            <a:r>
              <a:rPr dirty="0" err="1"/>
              <a:t>i</a:t>
            </a:r>
            <a:r>
              <a:rPr dirty="0"/>
              <a:t> = 0; </a:t>
            </a:r>
            <a:r>
              <a:rPr dirty="0" err="1"/>
              <a:t>i</a:t>
            </a:r>
            <a:r>
              <a:rPr dirty="0"/>
              <a:t> &lt; 5; </a:t>
            </a:r>
            <a:r>
              <a:rPr dirty="0" err="1"/>
              <a:t>i</a:t>
            </a:r>
            <a:r>
              <a:rPr dirty="0"/>
              <a:t>++) {</a:t>
            </a:r>
            <a:br>
              <a:rPr dirty="0"/>
            </a:br>
            <a:r>
              <a:rPr dirty="0"/>
              <a:t>  // </a:t>
            </a:r>
            <a:r>
              <a:rPr dirty="0" err="1"/>
              <a:t>Wiederholung</a:t>
            </a:r>
            <a:br>
              <a:rPr dirty="0"/>
            </a:br>
            <a:r>
              <a:rPr dirty="0"/>
              <a:t>}</a:t>
            </a:r>
            <a:endParaRPr lang="de-DE" dirty="0"/>
          </a:p>
          <a:p>
            <a:pPr>
              <a:defRPr sz="1500">
                <a:latin typeface="Consolas"/>
              </a:defRPr>
            </a:pPr>
            <a:endParaRPr lang="de-DE" dirty="0"/>
          </a:p>
          <a:p>
            <a:pPr>
              <a:defRPr sz="1500">
                <a:latin typeface="Consolas"/>
              </a:defRPr>
            </a:pPr>
            <a:r>
              <a:rPr lang="de-DE" dirty="0" err="1"/>
              <a:t>while</a:t>
            </a:r>
            <a:r>
              <a:rPr lang="de-DE" dirty="0"/>
              <a:t> (True){</a:t>
            </a:r>
          </a:p>
          <a:p>
            <a:pPr>
              <a:defRPr sz="1500">
                <a:latin typeface="Consolas"/>
              </a:defRPr>
            </a:pPr>
            <a:r>
              <a:rPr lang="de-DE" dirty="0"/>
              <a:t> // unendliche Wiederholung bis break;</a:t>
            </a:r>
          </a:p>
          <a:p>
            <a:pPr>
              <a:defRPr sz="1500">
                <a:latin typeface="Consolas"/>
              </a:defRPr>
            </a:pPr>
            <a:r>
              <a:rPr lang="de-DE" dirty="0"/>
              <a:t>}</a:t>
            </a:r>
          </a:p>
          <a:p>
            <a:pPr>
              <a:defRPr sz="1500">
                <a:latin typeface="Consolas"/>
              </a:defRPr>
            </a:pPr>
            <a:endParaRPr lang="de-DE" dirty="0"/>
          </a:p>
          <a:p>
            <a:pPr>
              <a:defRPr sz="1500">
                <a:latin typeface="Consolas"/>
              </a:defRPr>
            </a:pPr>
            <a:r>
              <a:rPr lang="de-DE" dirty="0" err="1"/>
              <a:t>While</a:t>
            </a:r>
            <a:r>
              <a:rPr lang="de-DE" dirty="0"/>
              <a:t> (</a:t>
            </a:r>
            <a:r>
              <a:rPr lang="de-DE" dirty="0" err="1"/>
              <a:t>age</a:t>
            </a:r>
            <a:r>
              <a:rPr lang="de-DE" dirty="0"/>
              <a:t> === 17){</a:t>
            </a:r>
          </a:p>
          <a:p>
            <a:pPr>
              <a:defRPr sz="1500">
                <a:latin typeface="Consolas"/>
              </a:defRPr>
            </a:pPr>
            <a:r>
              <a:rPr lang="de-DE" dirty="0"/>
              <a:t> //</a:t>
            </a:r>
            <a:r>
              <a:rPr lang="de-DE" dirty="0" err="1"/>
              <a:t>Wiederholunh</a:t>
            </a:r>
            <a:endParaRPr lang="de-DE" dirty="0"/>
          </a:p>
          <a:p>
            <a:pPr>
              <a:defRPr sz="1500">
                <a:latin typeface="Consolas"/>
              </a:defRPr>
            </a:pPr>
            <a:r>
              <a:rPr lang="de-DE" dirty="0"/>
              <a:t>}</a:t>
            </a:r>
          </a:p>
          <a:p>
            <a:pPr>
              <a:defRPr sz="1500">
                <a:latin typeface="Consolas"/>
              </a:defRPr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for-Schleife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Eine for-Schleife wiederholt Code.</a:t>
            </a:r>
          </a:p>
          <a:p>
            <a:pPr>
              <a:spcAft>
                <a:spcPts val="1000"/>
              </a:spcAft>
              <a:defRPr sz="1900"/>
            </a:pPr>
            <a:r>
              <a:t>Start → Bedingung → Veränderung</a:t>
            </a:r>
          </a:p>
          <a:p>
            <a:pPr>
              <a:spcAft>
                <a:spcPts val="1000"/>
              </a:spcAft>
              <a:defRPr sz="1900"/>
            </a:pPr>
            <a:r>
              <a:t>i++ bedeutet: i um 1 erhöhen.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234440"/>
            <a:ext cx="5303520" cy="50749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508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onsolas"/>
              </a:defRPr>
            </a:pPr>
            <a:r>
              <a:t>for (let i = 0; i &lt; 5; i++) {</a:t>
            </a:r>
            <a:br/>
            <a:r>
              <a:t>  console.log(i);</a:t>
            </a:r>
            <a:br/>
            <a:r>
              <a:t>}</a:t>
            </a:r>
            <a:br/>
            <a:br/>
            <a:r>
              <a:t>// Ausgabe:</a:t>
            </a:r>
            <a:br/>
            <a:r>
              <a:t>// 0</a:t>
            </a:r>
            <a:br/>
            <a:r>
              <a:t>// 1</a:t>
            </a:r>
            <a:br/>
            <a:r>
              <a:t>// 2</a:t>
            </a:r>
            <a:br/>
            <a:r>
              <a:t>// 3</a:t>
            </a:r>
            <a:br/>
            <a:r>
              <a:t>//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HTML-Element auswählen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getElementById() findet ein Element anhand seiner ID.</a:t>
            </a:r>
          </a:p>
          <a:p>
            <a:pPr>
              <a:spcAft>
                <a:spcPts val="1000"/>
              </a:spcAft>
              <a:defRPr sz="1900"/>
            </a:pPr>
            <a:r>
              <a:t>querySelector() kann CSS-Selektoren verwenden.</a:t>
            </a:r>
          </a:p>
          <a:p>
            <a:pPr>
              <a:spcAft>
                <a:spcPts val="1000"/>
              </a:spcAft>
              <a:defRPr sz="1900"/>
            </a:pPr>
            <a:r>
              <a:t>Das Ergebnis ist eine Referenz auf das Element.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234440"/>
            <a:ext cx="5303520" cy="50749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508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onsolas"/>
              </a:defRPr>
            </a:pPr>
            <a:r>
              <a:t>const title =</a:t>
            </a:r>
            <a:br/>
            <a:r>
              <a:t>  document.getElementById("title");</a:t>
            </a:r>
            <a:br/>
            <a:br/>
            <a:r>
              <a:t>const button =</a:t>
            </a:r>
            <a:br/>
            <a:r>
              <a:t>  document.querySelector("#btn");</a:t>
            </a:r>
            <a:br/>
            <a:br/>
            <a:r>
              <a:t>const paragraph =</a:t>
            </a:r>
            <a:br/>
            <a:r>
              <a:t>  document.querySelector(".text");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Text verändern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 dirty="0" err="1"/>
              <a:t>textContent</a:t>
            </a:r>
            <a:r>
              <a:rPr dirty="0"/>
              <a:t> </a:t>
            </a:r>
            <a:r>
              <a:rPr dirty="0" err="1"/>
              <a:t>verändert</a:t>
            </a:r>
            <a:r>
              <a:rPr dirty="0"/>
              <a:t> den Text </a:t>
            </a:r>
            <a:r>
              <a:rPr dirty="0" err="1"/>
              <a:t>eines</a:t>
            </a:r>
            <a:r>
              <a:rPr dirty="0"/>
              <a:t> Elements.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Das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nützlich</a:t>
            </a:r>
            <a:r>
              <a:rPr dirty="0"/>
              <a:t> für </a:t>
            </a:r>
            <a:r>
              <a:rPr dirty="0" err="1"/>
              <a:t>Überschriften</a:t>
            </a:r>
            <a:r>
              <a:rPr dirty="0"/>
              <a:t>, </a:t>
            </a:r>
            <a:r>
              <a:rPr dirty="0" err="1"/>
              <a:t>Statusanzeigen</a:t>
            </a:r>
            <a:r>
              <a:rPr dirty="0"/>
              <a:t>, </a:t>
            </a:r>
            <a:r>
              <a:rPr dirty="0" err="1"/>
              <a:t>Punkte</a:t>
            </a:r>
            <a:r>
              <a:rPr dirty="0"/>
              <a:t> </a:t>
            </a:r>
            <a:r>
              <a:rPr dirty="0" err="1"/>
              <a:t>usw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HTML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dabei</a:t>
            </a:r>
            <a:r>
              <a:rPr dirty="0"/>
              <a:t> </a:t>
            </a:r>
            <a:r>
              <a:rPr dirty="0" err="1"/>
              <a:t>nicht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HTML </a:t>
            </a:r>
            <a:r>
              <a:rPr dirty="0" err="1"/>
              <a:t>interpretiert</a:t>
            </a:r>
            <a:r>
              <a:rPr dirty="0"/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234440"/>
            <a:ext cx="5303520" cy="50749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508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onsolas"/>
              </a:defRPr>
            </a:pPr>
            <a:r>
              <a:t>const title = document.getElementById("title");</a:t>
            </a:r>
            <a:br/>
            <a:br/>
            <a:r>
              <a:t>title.textContent = "Neuer Titel";</a:t>
            </a:r>
            <a:br/>
            <a:br/>
            <a:r>
              <a:t>// Auch mit Variablen:</a:t>
            </a:r>
            <a:br/>
            <a:r>
              <a:t>const score = 100;</a:t>
            </a:r>
            <a:br/>
            <a:r>
              <a:t>title.textContent = "Punkte: " + score;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HTML verändern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innerHTML kann HTML-Inhalt setzen.</a:t>
            </a:r>
          </a:p>
          <a:p>
            <a:pPr>
              <a:spcAft>
                <a:spcPts val="1000"/>
              </a:spcAft>
              <a:defRPr sz="1900"/>
            </a:pPr>
            <a:r>
              <a:t>Damit lassen sich beispielsweise neue Tags einfügen.</a:t>
            </a:r>
          </a:p>
          <a:p>
            <a:pPr>
              <a:spcAft>
                <a:spcPts val="1000"/>
              </a:spcAft>
              <a:defRPr sz="1900"/>
            </a:pPr>
            <a:r>
              <a:t>Bei unbekannten Benutzereingaben sollte man damit vorsichtig sein.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234440"/>
            <a:ext cx="5303520" cy="50749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508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onsolas"/>
              </a:defRPr>
            </a:pPr>
            <a:r>
              <a:t>const box = document.getElementById("box");</a:t>
            </a:r>
            <a:br/>
            <a:br/>
            <a:r>
              <a:t>box.innerHTML = "&lt;b&gt;Hallo!&lt;/b&gt;";</a:t>
            </a:r>
            <a:br/>
            <a:br/>
            <a:r>
              <a:t>// textContent:</a:t>
            </a:r>
            <a:br/>
            <a:r>
              <a:t>// "&lt;b&gt;Hallo!&lt;/b&gt;" als Text</a:t>
            </a:r>
            <a:br/>
            <a:r>
              <a:t>//</a:t>
            </a:r>
            <a:br/>
            <a:r>
              <a:t>// innerHTML:</a:t>
            </a:r>
            <a:br/>
            <a:r>
              <a:t>// Hallo! wird fett dargestellt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CSS mit JavaScript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style verändert einzelne CSS-Eigenschaften direkt.</a:t>
            </a:r>
          </a:p>
          <a:p>
            <a:pPr>
              <a:spcAft>
                <a:spcPts val="1000"/>
              </a:spcAft>
              <a:defRPr sz="1900"/>
            </a:pPr>
            <a:r>
              <a:t>CSS-Eigenschaften mit Bindestrich werden in JavaScript meist camelCase geschrieben.</a:t>
            </a:r>
          </a:p>
          <a:p>
            <a:pPr>
              <a:spcAft>
                <a:spcPts val="1000"/>
              </a:spcAft>
              <a:defRPr sz="1900"/>
            </a:pPr>
            <a:r>
              <a:t>Beispiel: background-color → backgroundColor.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234440"/>
            <a:ext cx="5303520" cy="50749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508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onsolas"/>
              </a:defRPr>
            </a:pPr>
            <a:r>
              <a:t>const box = document.getElementById("box");</a:t>
            </a:r>
            <a:br/>
            <a:br/>
            <a:r>
              <a:t>box.style.color = "red";</a:t>
            </a:r>
            <a:br/>
            <a:r>
              <a:t>box.style.backgroundColor = "yellow";</a:t>
            </a:r>
            <a:br/>
            <a:r>
              <a:t>box.style.fontSize = "30px";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Position verändern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Für position:absolute oder position:relative können top/left/right/bottom verändert werden.</a:t>
            </a:r>
          </a:p>
          <a:p>
            <a:pPr>
              <a:spcAft>
                <a:spcPts val="1000"/>
              </a:spcAft>
              <a:defRPr sz="1900"/>
            </a:pPr>
            <a:r>
              <a:t>Die Position wird meist mit CSS vorbereitet.</a:t>
            </a:r>
          </a:p>
          <a:p>
            <a:pPr>
              <a:spcAft>
                <a:spcPts val="1000"/>
              </a:spcAft>
              <a:defRPr sz="1900"/>
            </a:pPr>
            <a:r>
              <a:t>JavaScript setzt dann beispielsweise left oder top.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234440"/>
            <a:ext cx="5303520" cy="50749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5080" y="1417320"/>
            <a:ext cx="484632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onsolas"/>
              </a:defRPr>
            </a:pPr>
            <a:r>
              <a:rPr dirty="0"/>
              <a:t>/* CSS */</a:t>
            </a:r>
            <a:br>
              <a:rPr dirty="0"/>
            </a:br>
            <a:r>
              <a:rPr dirty="0"/>
              <a:t>#box {</a:t>
            </a:r>
            <a:br>
              <a:rPr dirty="0"/>
            </a:br>
            <a:r>
              <a:rPr dirty="0"/>
              <a:t>  position: absolute;</a:t>
            </a:r>
            <a:br>
              <a:rPr dirty="0"/>
            </a:br>
            <a:r>
              <a:rPr dirty="0"/>
              <a:t>  left: 50px;</a:t>
            </a:r>
            <a:br>
              <a:rPr dirty="0"/>
            </a:br>
            <a:r>
              <a:rPr dirty="0"/>
              <a:t>  top: 50px;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endParaRPr lang="de-DE" dirty="0"/>
          </a:p>
          <a:p>
            <a:pPr>
              <a:defRPr sz="1500">
                <a:latin typeface="Consolas"/>
              </a:defRPr>
            </a:pPr>
            <a:endParaRPr lang="de-DE" dirty="0"/>
          </a:p>
          <a:p>
            <a:pPr>
              <a:defRPr sz="1500">
                <a:latin typeface="Consolas"/>
              </a:defRPr>
            </a:pPr>
            <a:br>
              <a:rPr dirty="0"/>
            </a:br>
            <a:r>
              <a:rPr dirty="0"/>
              <a:t>/* JavaScript */</a:t>
            </a:r>
            <a:br>
              <a:rPr dirty="0"/>
            </a:br>
            <a:r>
              <a:rPr dirty="0"/>
              <a:t>const box = </a:t>
            </a:r>
            <a:r>
              <a:rPr dirty="0" err="1"/>
              <a:t>document.getElementById</a:t>
            </a:r>
            <a:r>
              <a:rPr dirty="0"/>
              <a:t>("box");</a:t>
            </a:r>
            <a:br>
              <a:rPr dirty="0"/>
            </a:br>
            <a:r>
              <a:rPr dirty="0" err="1"/>
              <a:t>box.style.left</a:t>
            </a:r>
            <a:r>
              <a:rPr dirty="0"/>
              <a:t> = "200px";</a:t>
            </a:r>
            <a:br>
              <a:rPr dirty="0"/>
            </a:br>
            <a:r>
              <a:rPr dirty="0" err="1"/>
              <a:t>box.style.top</a:t>
            </a:r>
            <a:r>
              <a:rPr dirty="0"/>
              <a:t> = "100px";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Auf Klick reagieren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JavaScript kann auf Ereignisse reagieren.</a:t>
            </a:r>
          </a:p>
          <a:p>
            <a:pPr>
              <a:spcAft>
                <a:spcPts val="1000"/>
              </a:spcAft>
              <a:defRPr sz="1900"/>
            </a:pPr>
            <a:r>
              <a:t>addEventListener() verbindet ein Ereignis mit einer Funktion.</a:t>
            </a:r>
          </a:p>
          <a:p>
            <a:pPr>
              <a:spcAft>
                <a:spcPts val="1000"/>
              </a:spcAft>
              <a:defRPr sz="1900"/>
            </a:pPr>
            <a:r>
              <a:t>click ist eines der wichtigsten Ereignisse.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234440"/>
            <a:ext cx="5303520" cy="50749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508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onsolas"/>
              </a:defRPr>
            </a:pPr>
            <a:r>
              <a:t>const button = document.getElementById("btn");</a:t>
            </a:r>
            <a:br/>
            <a:r>
              <a:t>const title = document.getElementById("title");</a:t>
            </a:r>
            <a:br/>
            <a:br/>
            <a:r>
              <a:t>button.addEventListener("click", function () {</a:t>
            </a:r>
            <a:br/>
            <a:r>
              <a:t>  title.textContent = "Du hast geklickt!";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Funktionen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Funktionen bündeln Anweisungen.</a:t>
            </a:r>
          </a:p>
          <a:p>
            <a:pPr>
              <a:spcAft>
                <a:spcPts val="1000"/>
              </a:spcAft>
              <a:defRPr sz="1900"/>
            </a:pPr>
            <a:r>
              <a:t>Sie können Parameter erhalten und einen Wert zurückgeben.</a:t>
            </a:r>
          </a:p>
          <a:p>
            <a:pPr>
              <a:spcAft>
                <a:spcPts val="1000"/>
              </a:spcAft>
              <a:defRPr sz="1900"/>
            </a:pPr>
            <a:r>
              <a:t>Damit vermeiden wir wiederholten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234440"/>
            <a:ext cx="5303520" cy="50749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508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onsolas"/>
              </a:defRPr>
            </a:pPr>
            <a:r>
              <a:t>function add(a, b) {</a:t>
            </a:r>
            <a:br/>
            <a:r>
              <a:t>  return a + b;</a:t>
            </a:r>
            <a:br/>
            <a:r>
              <a:t>}</a:t>
            </a:r>
            <a:br/>
            <a:br/>
            <a:r>
              <a:t>const result = add(3, 4);</a:t>
            </a:r>
            <a:br/>
            <a:br/>
            <a:r>
              <a:t>console.log(result); // 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Kleine Gesamtanwendung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Hier kommen HTML, Variablen, if, DOM-Manipulation und Events zusammen.</a:t>
            </a:r>
          </a:p>
          <a:p>
            <a:pPr>
              <a:spcAft>
                <a:spcPts val="1000"/>
              </a:spcAft>
              <a:defRPr sz="1900"/>
            </a:pPr>
            <a:r>
              <a:t>Ziel: Eine Schaltfläche verändert Text und Farbe.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234440"/>
            <a:ext cx="5303520" cy="50749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5080" y="141732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onsolas"/>
              </a:defRPr>
            </a:pPr>
            <a:r>
              <a:t>const button = document.getElementById("btn");</a:t>
            </a:r>
            <a:br/>
            <a:r>
              <a:t>const message = document.getElementById("message");</a:t>
            </a:r>
            <a:br/>
            <a:br/>
            <a:r>
              <a:t>let clicks = 0;</a:t>
            </a:r>
            <a:br/>
            <a:br/>
            <a:r>
              <a:t>button.addEventListener("click", function () {</a:t>
            </a:r>
            <a:br/>
            <a:r>
              <a:t>  clicks++;</a:t>
            </a:r>
            <a:br/>
            <a:br/>
            <a:r>
              <a:t>  message.textContent = "Klicks: " + clicks;</a:t>
            </a:r>
            <a:br/>
            <a:br/>
            <a:r>
              <a:t>  if (clicks &gt;= 5) {</a:t>
            </a:r>
            <a:br/>
            <a:r>
              <a:t>    message.style.color = "green";</a:t>
            </a:r>
            <a:br/>
            <a:r>
              <a:t>  }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16. Mini-Challenge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Versuche zuerst selbst eine Lösung zu schreiben – erst danach nachschauen!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Erstelle eine HTML-Seite mit einer Überschrift und einem Button.</a:t>
            </a:r>
          </a:p>
          <a:p>
            <a:pPr>
              <a:spcAft>
                <a:spcPts val="1000"/>
              </a:spcAft>
              <a:defRPr sz="1900"/>
            </a:pPr>
            <a:r>
              <a:t>Bei jedem Klick soll eine Zahl um 1 steigen.</a:t>
            </a:r>
          </a:p>
          <a:p>
            <a:pPr>
              <a:spcAft>
                <a:spcPts val="1000"/>
              </a:spcAft>
              <a:defRPr sz="1900"/>
            </a:pPr>
            <a:r>
              <a:t>Ab 10 Klicks soll der Text seine Farbe ändern.</a:t>
            </a:r>
          </a:p>
          <a:p>
            <a:pPr>
              <a:spcAft>
                <a:spcPts val="1000"/>
              </a:spcAft>
              <a:defRPr sz="1900"/>
            </a:pPr>
            <a:r>
              <a:t>Bonus: Verschiebe ein Element bei jedem Klick um 20 Pixel nach rechts.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17. Das Wichtigste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JavaScript verbindet Logik mit der sichtbaren Webseite.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/>
            </a:pPr>
            <a:r>
              <a:t>→ Variablen: const und let</a:t>
            </a:r>
          </a:p>
          <a:p>
            <a:pPr>
              <a:spcAft>
                <a:spcPts val="1000"/>
              </a:spcAft>
              <a:defRPr sz="1900" b="1"/>
            </a:pPr>
            <a:r>
              <a:t>→ Datentypen: string, number, boolean</a:t>
            </a:r>
          </a:p>
          <a:p>
            <a:pPr>
              <a:spcAft>
                <a:spcPts val="1000"/>
              </a:spcAft>
              <a:defRPr sz="1900" b="1"/>
            </a:pPr>
            <a:r>
              <a:t>→ Entscheidungen: if / else if / else</a:t>
            </a:r>
          </a:p>
          <a:p>
            <a:pPr>
              <a:spcAft>
                <a:spcPts val="1000"/>
              </a:spcAft>
              <a:defRPr sz="1900" b="1"/>
            </a:pPr>
            <a:r>
              <a:t>→ Wiederholung: for</a:t>
            </a:r>
          </a:p>
          <a:p>
            <a:pPr>
              <a:spcAft>
                <a:spcPts val="1000"/>
              </a:spcAft>
              <a:defRPr sz="1900" b="1"/>
            </a:pPr>
            <a:r>
              <a:t>→ HTML auswählen: getElementById / querySelector</a:t>
            </a:r>
          </a:p>
          <a:p>
            <a:pPr>
              <a:spcAft>
                <a:spcPts val="1000"/>
              </a:spcAft>
              <a:defRPr sz="1900" b="1"/>
            </a:pPr>
            <a:r>
              <a:t>→ Inhalt: textContent / innerHTML</a:t>
            </a:r>
          </a:p>
          <a:p>
            <a:pPr>
              <a:spcAft>
                <a:spcPts val="1000"/>
              </a:spcAft>
              <a:defRPr sz="1900" b="1"/>
            </a:pPr>
            <a:r>
              <a:t>→ Aussehen: style</a:t>
            </a:r>
          </a:p>
          <a:p>
            <a:pPr>
              <a:spcAft>
                <a:spcPts val="1000"/>
              </a:spcAft>
              <a:defRPr sz="1900" b="1"/>
            </a:pPr>
            <a:r>
              <a:t>→ Interaktion: addEventListener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18. Nächste Schritte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Heute: die fundamentalen Bausteine. Danach wird es richtig interessant.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Arrays und Objekte</a:t>
            </a:r>
          </a:p>
          <a:p>
            <a:pPr>
              <a:spcAft>
                <a:spcPts val="1000"/>
              </a:spcAft>
              <a:defRPr sz="1900"/>
            </a:pPr>
            <a:r>
              <a:t>Mehr DOM-Manipulation</a:t>
            </a:r>
          </a:p>
          <a:p>
            <a:pPr>
              <a:spcAft>
                <a:spcPts val="1000"/>
              </a:spcAft>
              <a:defRPr sz="1900"/>
            </a:pPr>
            <a:r>
              <a:t>Tastatur- und Mausereignisse</a:t>
            </a:r>
          </a:p>
          <a:p>
            <a:pPr>
              <a:spcAft>
                <a:spcPts val="1000"/>
              </a:spcAft>
              <a:defRPr sz="1900"/>
            </a:pPr>
            <a:r>
              <a:t>Formulare und Benutzereingaben</a:t>
            </a:r>
          </a:p>
          <a:p>
            <a:pPr>
              <a:spcAft>
                <a:spcPts val="1000"/>
              </a:spcAft>
              <a:defRPr sz="1900"/>
            </a:pPr>
            <a:r>
              <a:t>Klassen und objektorientierte Programmierung</a:t>
            </a:r>
          </a:p>
          <a:p>
            <a:pPr>
              <a:spcAft>
                <a:spcPts val="1000"/>
              </a:spcAft>
              <a:defRPr sz="1900"/>
            </a:pPr>
            <a:r>
              <a:t>Kleine Spiele und interaktive Webseiten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1471</Words>
  <Application>Microsoft Office PowerPoint</Application>
  <PresentationFormat>Widescreen</PresentationFormat>
  <Paragraphs>140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André Justin Ellerbrock</dc:creator>
  <cp:keywords/>
  <dc:description>generated using python-pptx</dc:description>
  <cp:lastModifiedBy>W E</cp:lastModifiedBy>
  <cp:revision>2</cp:revision>
  <dcterms:created xsi:type="dcterms:W3CDTF">2013-01-27T09:14:16Z</dcterms:created>
  <dcterms:modified xsi:type="dcterms:W3CDTF">2026-09-07T18:10:37Z</dcterms:modified>
  <cp:category/>
</cp:coreProperties>
</file>