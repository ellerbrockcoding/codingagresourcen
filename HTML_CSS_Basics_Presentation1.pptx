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6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1614" y="6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1A92B4-8F1C-41D9-9DFA-6A4DD40D266D}" type="datetimeFigureOut">
              <a:rPr lang="de-DE" smtClean="0"/>
              <a:t>24.08.2026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82BF30-E46C-4B14-80C0-D1C94AE83E0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756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82BF30-E46C-4B14-80C0-D1C94AE83E0F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7500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DAC6678-8825-B9BF-1406-04E514FBE53A}"/>
              </a:ext>
            </a:extLst>
          </p:cNvPr>
          <p:cNvSpPr/>
          <p:nvPr/>
        </p:nvSpPr>
        <p:spPr>
          <a:xfrm>
            <a:off x="2025650" y="3981450"/>
            <a:ext cx="300831" cy="387350"/>
          </a:xfrm>
          <a:prstGeom prst="rect">
            <a:avLst/>
          </a:prstGeom>
          <a:gradFill flip="none" rotWithShape="1">
            <a:gsLst>
              <a:gs pos="0">
                <a:srgbClr val="7730CF"/>
              </a:gs>
              <a:gs pos="100000">
                <a:srgbClr val="6C2DC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6C293C-DEC5-966D-29B8-652E56FE8E4E}"/>
              </a:ext>
            </a:extLst>
          </p:cNvPr>
          <p:cNvSpPr/>
          <p:nvPr/>
        </p:nvSpPr>
        <p:spPr>
          <a:xfrm>
            <a:off x="4589526" y="4056856"/>
            <a:ext cx="161068" cy="130969"/>
          </a:xfrm>
          <a:prstGeom prst="rect">
            <a:avLst/>
          </a:prstGeom>
          <a:gradFill>
            <a:gsLst>
              <a:gs pos="100000">
                <a:srgbClr val="3E2CA7"/>
              </a:gs>
              <a:gs pos="0">
                <a:srgbClr val="452CA9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C39B44-5213-F633-6C72-445E98AE8B4E}"/>
              </a:ext>
            </a:extLst>
          </p:cNvPr>
          <p:cNvSpPr/>
          <p:nvPr/>
        </p:nvSpPr>
        <p:spPr>
          <a:xfrm>
            <a:off x="1405001" y="3927474"/>
            <a:ext cx="6538849" cy="461665"/>
          </a:xfrm>
          <a:custGeom>
            <a:avLst/>
            <a:gdLst>
              <a:gd name="connsiteX0" fmla="*/ 0 w 6369050"/>
              <a:gd name="connsiteY0" fmla="*/ 0 h 520700"/>
              <a:gd name="connsiteX1" fmla="*/ 6369050 w 6369050"/>
              <a:gd name="connsiteY1" fmla="*/ 0 h 520700"/>
              <a:gd name="connsiteX2" fmla="*/ 6369050 w 6369050"/>
              <a:gd name="connsiteY2" fmla="*/ 520700 h 520700"/>
              <a:gd name="connsiteX3" fmla="*/ 0 w 6369050"/>
              <a:gd name="connsiteY3" fmla="*/ 520700 h 520700"/>
              <a:gd name="connsiteX4" fmla="*/ 0 w 6369050"/>
              <a:gd name="connsiteY4" fmla="*/ 0 h 520700"/>
              <a:gd name="connsiteX0" fmla="*/ 0 w 6369050"/>
              <a:gd name="connsiteY0" fmla="*/ 0 h 520700"/>
              <a:gd name="connsiteX1" fmla="*/ 6369050 w 6369050"/>
              <a:gd name="connsiteY1" fmla="*/ 0 h 520700"/>
              <a:gd name="connsiteX2" fmla="*/ 6367399 w 6369050"/>
              <a:gd name="connsiteY2" fmla="*/ 254794 h 520700"/>
              <a:gd name="connsiteX3" fmla="*/ 6369050 w 6369050"/>
              <a:gd name="connsiteY3" fmla="*/ 520700 h 520700"/>
              <a:gd name="connsiteX4" fmla="*/ 0 w 6369050"/>
              <a:gd name="connsiteY4" fmla="*/ 520700 h 520700"/>
              <a:gd name="connsiteX5" fmla="*/ 0 w 6369050"/>
              <a:gd name="connsiteY5" fmla="*/ 0 h 520700"/>
              <a:gd name="connsiteX0" fmla="*/ 0 w 6538850"/>
              <a:gd name="connsiteY0" fmla="*/ 0 h 520700"/>
              <a:gd name="connsiteX1" fmla="*/ 6369050 w 6538850"/>
              <a:gd name="connsiteY1" fmla="*/ 0 h 520700"/>
              <a:gd name="connsiteX2" fmla="*/ 6538849 w 6538850"/>
              <a:gd name="connsiteY2" fmla="*/ 254794 h 520700"/>
              <a:gd name="connsiteX3" fmla="*/ 6369050 w 6538850"/>
              <a:gd name="connsiteY3" fmla="*/ 520700 h 520700"/>
              <a:gd name="connsiteX4" fmla="*/ 0 w 6538850"/>
              <a:gd name="connsiteY4" fmla="*/ 520700 h 520700"/>
              <a:gd name="connsiteX5" fmla="*/ 0 w 6538850"/>
              <a:gd name="connsiteY5" fmla="*/ 0 h 520700"/>
              <a:gd name="connsiteX0" fmla="*/ 0 w 6538850"/>
              <a:gd name="connsiteY0" fmla="*/ 0 h 520700"/>
              <a:gd name="connsiteX1" fmla="*/ 6369050 w 6538850"/>
              <a:gd name="connsiteY1" fmla="*/ 0 h 520700"/>
              <a:gd name="connsiteX2" fmla="*/ 6538849 w 6538850"/>
              <a:gd name="connsiteY2" fmla="*/ 254794 h 520700"/>
              <a:gd name="connsiteX3" fmla="*/ 6369050 w 6538850"/>
              <a:gd name="connsiteY3" fmla="*/ 520700 h 520700"/>
              <a:gd name="connsiteX4" fmla="*/ 0 w 6538850"/>
              <a:gd name="connsiteY4" fmla="*/ 520700 h 520700"/>
              <a:gd name="connsiteX5" fmla="*/ 0 w 6538850"/>
              <a:gd name="connsiteY5" fmla="*/ 0 h 520700"/>
              <a:gd name="connsiteX0" fmla="*/ 0 w 6538850"/>
              <a:gd name="connsiteY0" fmla="*/ 0 h 520700"/>
              <a:gd name="connsiteX1" fmla="*/ 6369050 w 6538850"/>
              <a:gd name="connsiteY1" fmla="*/ 0 h 520700"/>
              <a:gd name="connsiteX2" fmla="*/ 6538849 w 6538850"/>
              <a:gd name="connsiteY2" fmla="*/ 254794 h 520700"/>
              <a:gd name="connsiteX3" fmla="*/ 6369050 w 6538850"/>
              <a:gd name="connsiteY3" fmla="*/ 520700 h 520700"/>
              <a:gd name="connsiteX4" fmla="*/ 0 w 6538850"/>
              <a:gd name="connsiteY4" fmla="*/ 520700 h 520700"/>
              <a:gd name="connsiteX5" fmla="*/ 0 w 6538850"/>
              <a:gd name="connsiteY5" fmla="*/ 0 h 520700"/>
              <a:gd name="connsiteX0" fmla="*/ 0 w 6538853"/>
              <a:gd name="connsiteY0" fmla="*/ 0 h 520700"/>
              <a:gd name="connsiteX1" fmla="*/ 6369050 w 6538853"/>
              <a:gd name="connsiteY1" fmla="*/ 0 h 520700"/>
              <a:gd name="connsiteX2" fmla="*/ 6538849 w 6538853"/>
              <a:gd name="connsiteY2" fmla="*/ 254794 h 520700"/>
              <a:gd name="connsiteX3" fmla="*/ 6369050 w 6538853"/>
              <a:gd name="connsiteY3" fmla="*/ 520700 h 520700"/>
              <a:gd name="connsiteX4" fmla="*/ 0 w 6538853"/>
              <a:gd name="connsiteY4" fmla="*/ 520700 h 520700"/>
              <a:gd name="connsiteX5" fmla="*/ 0 w 6538853"/>
              <a:gd name="connsiteY5" fmla="*/ 0 h 520700"/>
              <a:gd name="connsiteX0" fmla="*/ 0 w 6538849"/>
              <a:gd name="connsiteY0" fmla="*/ 0 h 520700"/>
              <a:gd name="connsiteX1" fmla="*/ 6369050 w 6538849"/>
              <a:gd name="connsiteY1" fmla="*/ 0 h 520700"/>
              <a:gd name="connsiteX2" fmla="*/ 6538849 w 6538849"/>
              <a:gd name="connsiteY2" fmla="*/ 254794 h 520700"/>
              <a:gd name="connsiteX3" fmla="*/ 6369050 w 6538849"/>
              <a:gd name="connsiteY3" fmla="*/ 520700 h 520700"/>
              <a:gd name="connsiteX4" fmla="*/ 0 w 6538849"/>
              <a:gd name="connsiteY4" fmla="*/ 520700 h 520700"/>
              <a:gd name="connsiteX5" fmla="*/ 0 w 6538849"/>
              <a:gd name="connsiteY5" fmla="*/ 0 h 52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38849" h="520700">
                <a:moveTo>
                  <a:pt x="0" y="0"/>
                </a:moveTo>
                <a:lnTo>
                  <a:pt x="6369050" y="0"/>
                </a:lnTo>
                <a:cubicBezTo>
                  <a:pt x="6543125" y="253206"/>
                  <a:pt x="6367949" y="-1587"/>
                  <a:pt x="6538849" y="254794"/>
                </a:cubicBezTo>
                <a:cubicBezTo>
                  <a:pt x="6383824" y="495829"/>
                  <a:pt x="6489150" y="352690"/>
                  <a:pt x="6369050" y="520700"/>
                </a:cubicBez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66000">
                <a:srgbClr val="2E31A2"/>
              </a:gs>
              <a:gs pos="34000">
                <a:srgbClr val="7730CF"/>
              </a:gs>
              <a:gs pos="100000">
                <a:srgbClr val="0174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9C0A53-B50F-1970-EEEA-65FCA38D927F}"/>
              </a:ext>
            </a:extLst>
          </p:cNvPr>
          <p:cNvSpPr txBox="1"/>
          <p:nvPr/>
        </p:nvSpPr>
        <p:spPr>
          <a:xfrm>
            <a:off x="1405001" y="3927475"/>
            <a:ext cx="7845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&lt;</a:t>
            </a:r>
            <a:r>
              <a:rPr lang="de-DE" dirty="0">
                <a:solidFill>
                  <a:schemeClr val="bg1"/>
                </a:solidFill>
                <a:latin typeface="AcmeFont" pitchFamily="2" charset="0"/>
                <a:cs typeface="Aharoni" panose="020F0502020204030204" pitchFamily="2" charset="-79"/>
              </a:rPr>
              <a:t>/</a:t>
            </a:r>
            <a:r>
              <a:rPr lang="de-DE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&gt;</a:t>
            </a:r>
            <a:r>
              <a:rPr lang="de-DE" dirty="0">
                <a:solidFill>
                  <a:schemeClr val="bg1"/>
                </a:solidFill>
                <a:latin typeface="AcmeFont" pitchFamily="2" charset="0"/>
                <a:cs typeface="Aharoni" panose="020F0502020204030204" pitchFamily="2" charset="-79"/>
              </a:rPr>
              <a:t>  </a:t>
            </a:r>
            <a:r>
              <a:rPr lang="de-DE" sz="1600" dirty="0">
                <a:solidFill>
                  <a:schemeClr val="bg1"/>
                </a:solidFill>
                <a:latin typeface="Aptos Black" panose="020B0004020202020204" pitchFamily="34" charset="0"/>
                <a:cs typeface="Aharoni" panose="020F0502020204030204" pitchFamily="2" charset="-79"/>
              </a:rPr>
              <a:t>Spaß,   Frust    und    Zocken </a:t>
            </a:r>
            <a:r>
              <a:rPr lang="de-DE" sz="2400" b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{}</a:t>
            </a:r>
            <a:r>
              <a:rPr lang="de-DE">
                <a:solidFill>
                  <a:schemeClr val="bg1"/>
                </a:solidFill>
                <a:latin typeface="AcmeFont" pitchFamily="2" charset="0"/>
                <a:cs typeface="Aharoni" panose="020F0502020204030204" pitchFamily="2" charset="-79"/>
              </a:rPr>
              <a:t>               </a:t>
            </a:r>
            <a:r>
              <a:rPr lang="de-DE" dirty="0">
                <a:solidFill>
                  <a:schemeClr val="bg1"/>
                </a:solidFill>
                <a:latin typeface="Aptos Black" panose="020B0004020202020204" pitchFamily="34" charset="0"/>
                <a:cs typeface="Aharoni" panose="020F0502020204030204" pitchFamily="2" charset="-79"/>
              </a:rPr>
              <a:t>//</a:t>
            </a:r>
            <a:r>
              <a:rPr lang="de-DE" sz="1600" dirty="0">
                <a:solidFill>
                  <a:schemeClr val="bg1"/>
                </a:solidFill>
                <a:latin typeface="Aptos Black" panose="020B0004020202020204" pitchFamily="34" charset="0"/>
                <a:cs typeface="Aharoni" panose="020F0502020204030204" pitchFamily="2" charset="-79"/>
              </a:rPr>
              <a:t>Ich bin André</a:t>
            </a:r>
            <a:endParaRPr lang="de-DE" dirty="0">
              <a:solidFill>
                <a:schemeClr val="bg1"/>
              </a:solidFill>
              <a:latin typeface="Aptos Black" panose="020B0004020202020204" pitchFamily="34" charset="0"/>
              <a:cs typeface="Aharoni" panose="020F0502020204030204" pitchFamily="2" charset="-79"/>
            </a:endParaRPr>
          </a:p>
        </p:txBody>
      </p:sp>
      <p:pic>
        <p:nvPicPr>
          <p:cNvPr id="9" name="Picture 8" descr="A computer screen with text and icons&#10;&#10;Description automatically generated with medium confidence">
            <a:extLst>
              <a:ext uri="{FF2B5EF4-FFF2-40B4-BE49-F238E27FC236}">
                <a16:creationId xmlns:a16="http://schemas.microsoft.com/office/drawing/2014/main" id="{E13929F5-FA87-2988-D185-C05D6C103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943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9375A"/>
                </a:solidFill>
              </a:defRPr>
            </a:pPr>
            <a:r>
              <a:t>HTML &amp; 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721203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4B5564"/>
                </a:solidFill>
              </a:defRPr>
            </a:pPr>
            <a:r>
              <a:rPr lang="de-DE" dirty="0"/>
              <a:t>Die Grundlagen des Aufbaus und Stylen einer Website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77240" y="3886200"/>
            <a:ext cx="10607040" cy="1828800"/>
          </a:xfrm>
          <a:prstGeom prst="roundRect">
            <a:avLst/>
          </a:prstGeom>
          <a:solidFill>
            <a:srgbClr val="1B1F24"/>
          </a:solidFill>
          <a:ln>
            <a:solidFill>
              <a:srgbClr val="46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4069080"/>
            <a:ext cx="1014984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BEEF0"/>
                </a:solidFill>
                <a:latin typeface="Consolas"/>
              </a:defRPr>
            </a:pPr>
            <a:r>
              <a:rPr dirty="0"/>
              <a:t>&lt;h1&gt;Hello, web!&lt;/h1&gt;</a:t>
            </a:r>
            <a:br>
              <a:rPr dirty="0"/>
            </a:br>
            <a:r>
              <a:rPr dirty="0"/>
              <a:t>&lt;p&gt;</a:t>
            </a:r>
            <a:r>
              <a:rPr lang="de-DE" dirty="0"/>
              <a:t>HTML liefert die Website Struktur</a:t>
            </a:r>
            <a:r>
              <a:rPr dirty="0"/>
              <a:t>.&lt;/p&gt;</a:t>
            </a:r>
            <a:br>
              <a:rPr dirty="0"/>
            </a:br>
            <a:endParaRPr lang="de-DE" dirty="0"/>
          </a:p>
          <a:p>
            <a:pPr>
              <a:defRPr sz="1400">
                <a:solidFill>
                  <a:srgbClr val="EBEEF0"/>
                </a:solidFill>
                <a:latin typeface="Consolas"/>
              </a:defRPr>
            </a:pPr>
            <a:r>
              <a:rPr lang="de-DE" dirty="0"/>
              <a:t>// CSS lässt es schön aussehen</a:t>
            </a:r>
            <a:br>
              <a:rPr dirty="0"/>
            </a:br>
            <a:r>
              <a:rPr dirty="0"/>
              <a:t>body {</a:t>
            </a:r>
            <a:br>
              <a:rPr dirty="0"/>
            </a:br>
            <a:r>
              <a:rPr dirty="0"/>
              <a:t>  font-family: sans-serif;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t>What are HTML and CSS?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543706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rPr lang="de-DE" dirty="0"/>
              <a:t>Zwei komplementäre Technologien mit unterschiedlichen Aufgaben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5780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12455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E324B"/>
                </a:solidFill>
              </a:defRPr>
            </a:pPr>
            <a:r>
              <a:rPr dirty="0"/>
              <a:t>HTML — </a:t>
            </a:r>
            <a:r>
              <a:rPr lang="de-DE" dirty="0"/>
              <a:t>Struktur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663440" cy="1918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rPr dirty="0"/>
              <a:t>• </a:t>
            </a:r>
            <a:r>
              <a:rPr lang="de-DE" dirty="0"/>
              <a:t>Definiert, welcher Inhalt auf der Seite vorhanden ist.
• Verwendet Elemente wie Überschriften, Absätze, Links, Bilder und Listen.
• Denken Sie daran: das Skelett und die semantische Struktur eines Dokuments.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25780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59" y="1645920"/>
            <a:ext cx="2365648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E324B"/>
                </a:solidFill>
              </a:defRPr>
            </a:pPr>
            <a:r>
              <a:rPr dirty="0"/>
              <a:t>CSS — </a:t>
            </a:r>
            <a:r>
              <a:rPr lang="de-DE" dirty="0"/>
              <a:t>Präsentation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537959" y="2148840"/>
            <a:ext cx="4663440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rPr dirty="0"/>
              <a:t>• </a:t>
            </a:r>
            <a:r>
              <a:rPr lang="de-DE" dirty="0"/>
              <a:t>Kontrolliert, wie diese Struktur aussieht.
• Legt Farben, Abstände, Typografie, Layout und Reaktionsverhalten fest.
• Denken Sie daran: das visuelle Design und die Anordnung der Seite.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4593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rPr dirty="0"/>
              <a:t>HTML </a:t>
            </a:r>
            <a:r>
              <a:rPr lang="de-DE" dirty="0"/>
              <a:t>Dokumentenskelett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469936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rPr lang="de-DE" dirty="0"/>
              <a:t>Ein minimalistischer, standardfreundlicher Ausgangspunkt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698480" cy="4206240"/>
          </a:xfrm>
          <a:prstGeom prst="roundRect">
            <a:avLst/>
          </a:prstGeom>
          <a:solidFill>
            <a:srgbClr val="1B1F24"/>
          </a:solidFill>
          <a:ln>
            <a:solidFill>
              <a:srgbClr val="46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91639"/>
            <a:ext cx="1024128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BEEF0"/>
                </a:solidFill>
                <a:latin typeface="Consolas"/>
              </a:defRPr>
            </a:pPr>
            <a:r>
              <a:rPr dirty="0"/>
              <a:t>&lt;!doctype html&gt;</a:t>
            </a:r>
            <a:br>
              <a:rPr dirty="0"/>
            </a:br>
            <a:r>
              <a:rPr dirty="0"/>
              <a:t>&lt;html lang="</a:t>
            </a:r>
            <a:r>
              <a:rPr lang="de-DE" dirty="0"/>
              <a:t>de</a:t>
            </a:r>
            <a:r>
              <a:rPr dirty="0"/>
              <a:t>"&gt;</a:t>
            </a:r>
            <a:br>
              <a:rPr dirty="0"/>
            </a:br>
            <a:r>
              <a:rPr dirty="0"/>
              <a:t>&lt;head&gt;</a:t>
            </a:r>
            <a:br>
              <a:rPr dirty="0"/>
            </a:br>
            <a:r>
              <a:rPr dirty="0"/>
              <a:t>  &lt;meta charset="utf-8"&gt;</a:t>
            </a:r>
            <a:br>
              <a:rPr dirty="0"/>
            </a:br>
            <a:r>
              <a:rPr lang="de-DE" dirty="0"/>
              <a:t>  </a:t>
            </a:r>
            <a:r>
              <a:rPr dirty="0"/>
              <a:t>&lt;title&gt;My Website&lt;/title&gt;</a:t>
            </a:r>
            <a:br>
              <a:rPr dirty="0"/>
            </a:br>
            <a:r>
              <a:rPr dirty="0"/>
              <a:t>&lt;/head&gt;</a:t>
            </a:r>
            <a:br>
              <a:rPr dirty="0"/>
            </a:br>
            <a:endParaRPr lang="de-DE" dirty="0"/>
          </a:p>
          <a:p>
            <a:pPr>
              <a:defRPr sz="1500">
                <a:solidFill>
                  <a:srgbClr val="EBEEF0"/>
                </a:solidFill>
                <a:latin typeface="Consolas"/>
              </a:defRPr>
            </a:pPr>
            <a:r>
              <a:rPr dirty="0"/>
              <a:t>&lt;body&gt;</a:t>
            </a:r>
            <a:br>
              <a:rPr dirty="0"/>
            </a:br>
            <a:r>
              <a:rPr dirty="0"/>
              <a:t>  </a:t>
            </a:r>
            <a:endParaRPr lang="de-DE" dirty="0"/>
          </a:p>
          <a:p>
            <a:pPr>
              <a:defRPr sz="1500">
                <a:solidFill>
                  <a:srgbClr val="EBEEF0"/>
                </a:solidFill>
                <a:latin typeface="Consolas"/>
              </a:defRPr>
            </a:pPr>
            <a:r>
              <a:rPr lang="de-DE" dirty="0"/>
              <a:t>  </a:t>
            </a:r>
            <a:r>
              <a:rPr lang="en-US" dirty="0"/>
              <a:t>&lt;h1&gt;Hello!&lt;/h1&gt;</a:t>
            </a:r>
            <a:br>
              <a:rPr lang="en-US" dirty="0"/>
            </a:br>
            <a:r>
              <a:rPr lang="en-US" dirty="0"/>
              <a:t>  &lt;p&gt;My first webpage.&lt;/p&gt;</a:t>
            </a:r>
            <a:br>
              <a:rPr lang="en-US" dirty="0"/>
            </a:br>
            <a:endParaRPr lang="en-US" dirty="0"/>
          </a:p>
          <a:p>
            <a:pPr>
              <a:defRPr sz="1500">
                <a:solidFill>
                  <a:srgbClr val="EBEEF0"/>
                </a:solidFill>
                <a:latin typeface="Consolas"/>
              </a:defRPr>
            </a:pPr>
            <a:r>
              <a:rPr dirty="0"/>
              <a:t>&lt;/body&gt;</a:t>
            </a:r>
            <a:br>
              <a:rPr dirty="0"/>
            </a:br>
            <a:r>
              <a:rPr dirty="0"/>
              <a:t>&lt;/html&gt;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58409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rPr lang="de-DE" dirty="0"/>
              <a:t>Verständnis von HTML-Elementen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6400800" cy="4480560"/>
          </a:xfrm>
          <a:prstGeom prst="roundRect">
            <a:avLst/>
          </a:prstGeom>
          <a:solidFill>
            <a:srgbClr val="1B1F24"/>
          </a:solidFill>
          <a:ln>
            <a:solidFill>
              <a:srgbClr val="46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BEEF0"/>
                </a:solidFill>
                <a:latin typeface="Consolas"/>
              </a:defRPr>
            </a:pPr>
            <a:r>
              <a:rPr dirty="0"/>
              <a:t>&lt;p class="intro"&gt;Hello, world!&lt;/p&gt;</a:t>
            </a:r>
            <a:br>
              <a:rPr dirty="0"/>
            </a:br>
            <a:br>
              <a:rPr dirty="0"/>
            </a:br>
            <a:r>
              <a:rPr dirty="0"/>
              <a:t>&lt;a </a:t>
            </a:r>
            <a:r>
              <a:rPr dirty="0" err="1"/>
              <a:t>href</a:t>
            </a:r>
            <a:r>
              <a:rPr dirty="0"/>
              <a:t>="https://example.com"&gt;Visit a site&lt;/a&gt;</a:t>
            </a:r>
            <a:br>
              <a:rPr dirty="0"/>
            </a:br>
            <a:br>
              <a:rPr dirty="0"/>
            </a:br>
            <a:r>
              <a:rPr dirty="0"/>
              <a:t>&lt;</a:t>
            </a:r>
            <a:r>
              <a:rPr dirty="0" err="1"/>
              <a:t>img</a:t>
            </a:r>
            <a:r>
              <a:rPr dirty="0"/>
              <a:t> </a:t>
            </a:r>
            <a:r>
              <a:rPr dirty="0" err="1"/>
              <a:t>src</a:t>
            </a:r>
            <a:r>
              <a:rPr dirty="0"/>
              <a:t>="images/cat.jpg" alt="A cat"&gt;</a:t>
            </a:r>
            <a:br>
              <a:rPr dirty="0"/>
            </a:br>
            <a:br>
              <a:rPr dirty="0"/>
            </a:br>
            <a:r>
              <a:rPr dirty="0"/>
              <a:t>&lt;</a:t>
            </a:r>
            <a:r>
              <a:rPr dirty="0" err="1"/>
              <a:t>ul</a:t>
            </a:r>
            <a:r>
              <a:rPr dirty="0"/>
              <a:t>&gt;</a:t>
            </a:r>
            <a:br>
              <a:rPr dirty="0"/>
            </a:br>
            <a:r>
              <a:rPr dirty="0"/>
              <a:t>  &lt;li&gt;First item&lt;/li&gt;</a:t>
            </a:r>
            <a:br>
              <a:rPr dirty="0"/>
            </a:br>
            <a:r>
              <a:rPr dirty="0"/>
              <a:t>  &lt;li&gt;Second item&lt;/li&gt;</a:t>
            </a:r>
            <a:br>
              <a:rPr dirty="0"/>
            </a:br>
            <a:r>
              <a:rPr dirty="0"/>
              <a:t>&lt;/</a:t>
            </a:r>
            <a:r>
              <a:rPr dirty="0" err="1"/>
              <a:t>ul</a:t>
            </a:r>
            <a:r>
              <a:rPr dirty="0"/>
              <a:t>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1463040"/>
            <a:ext cx="4023360" cy="2082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rPr dirty="0"/>
              <a:t>• </a:t>
            </a:r>
            <a:r>
              <a:rPr lang="de-DE" dirty="0"/>
              <a:t>Eröffnungstag</a:t>
            </a:r>
            <a:r>
              <a:rPr dirty="0"/>
              <a:t>: &lt;p&gt;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rPr dirty="0"/>
              <a:t>• Content: Hello, world!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rPr dirty="0"/>
              <a:t>• Closing tag: &lt;/p&gt;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rPr dirty="0"/>
              <a:t>• </a:t>
            </a:r>
            <a:r>
              <a:rPr lang="de-DE" dirty="0"/>
              <a:t>Attribut</a:t>
            </a:r>
            <a:r>
              <a:rPr dirty="0"/>
              <a:t>: class="intro"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rPr dirty="0"/>
              <a:t>• </a:t>
            </a:r>
            <a:r>
              <a:rPr lang="de-DE" dirty="0"/>
              <a:t>Einige Elemente, wie &lt;</a:t>
            </a:r>
            <a:r>
              <a:rPr lang="de-DE" dirty="0" err="1"/>
              <a:t>img</a:t>
            </a:r>
            <a:r>
              <a:rPr lang="de-DE" dirty="0"/>
              <a:t>&gt;, sind leere Elemente und haben kein Abschluss-Tag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50262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rPr lang="de-DE" dirty="0"/>
              <a:t>Nützliche HTML-Tags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525780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E324B"/>
                </a:solidFill>
              </a:defRPr>
            </a:pPr>
            <a:r>
              <a:t>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4663440" cy="230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rPr dirty="0"/>
              <a:t>• &lt;h1&gt; … &lt;h6&gt; — </a:t>
            </a:r>
            <a:r>
              <a:rPr lang="de-DE" dirty="0"/>
              <a:t>Überschriften</a:t>
            </a:r>
            <a:endParaRPr dirty="0"/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rPr dirty="0"/>
              <a:t>• &lt;p&gt; — paragraph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rPr dirty="0"/>
              <a:t>• &lt;strong&gt; — </a:t>
            </a:r>
            <a:r>
              <a:rPr lang="de-DE" dirty="0"/>
              <a:t>strong </a:t>
            </a:r>
            <a:r>
              <a:rPr lang="de-DE" dirty="0" err="1"/>
              <a:t>importance</a:t>
            </a:r>
            <a:r>
              <a:rPr lang="de-DE" dirty="0"/>
              <a:t>(oft fett gedruckt)</a:t>
            </a:r>
            <a:endParaRPr dirty="0"/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rPr dirty="0"/>
              <a:t>• &lt;</a:t>
            </a:r>
            <a:r>
              <a:rPr dirty="0" err="1"/>
              <a:t>em</a:t>
            </a:r>
            <a:r>
              <a:rPr dirty="0"/>
              <a:t>&gt; — emphasis</a:t>
            </a:r>
            <a:r>
              <a:rPr lang="de-DE" dirty="0"/>
              <a:t> (oft kursiv)</a:t>
            </a:r>
            <a:endParaRPr dirty="0"/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rPr dirty="0"/>
              <a:t>• &lt;</a:t>
            </a:r>
            <a:r>
              <a:rPr dirty="0" err="1"/>
              <a:t>br</a:t>
            </a:r>
            <a:r>
              <a:rPr dirty="0"/>
              <a:t>&gt; — </a:t>
            </a:r>
            <a:r>
              <a:rPr lang="de-DE" dirty="0"/>
              <a:t>Zeilenumbruch</a:t>
            </a:r>
            <a:endParaRPr dirty="0"/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rPr dirty="0"/>
              <a:t>•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25780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59" y="164592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E324B"/>
                </a:solidFill>
              </a:defRPr>
            </a:pPr>
            <a:r>
              <a:t>Links &amp; 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9" y="2148840"/>
            <a:ext cx="4663440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rPr dirty="0"/>
              <a:t>• &lt;a&gt; — hyperlink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rPr dirty="0"/>
              <a:t>• &lt;</a:t>
            </a:r>
            <a:r>
              <a:rPr dirty="0" err="1"/>
              <a:t>img</a:t>
            </a:r>
            <a:r>
              <a:rPr dirty="0"/>
              <a:t>&gt; — </a:t>
            </a:r>
            <a:r>
              <a:rPr lang="de-DE" dirty="0"/>
              <a:t>Bild</a:t>
            </a:r>
            <a:endParaRPr dirty="0"/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rPr dirty="0"/>
              <a:t>• &lt;video&gt; — video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rPr dirty="0"/>
              <a:t>• &lt;audio&gt; — 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8446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rPr lang="de-DE" dirty="0"/>
              <a:t>Listen, Tabellen und Formulare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10698480" cy="4206240"/>
          </a:xfrm>
          <a:prstGeom prst="roundRect">
            <a:avLst/>
          </a:prstGeom>
          <a:solidFill>
            <a:srgbClr val="1B1F24"/>
          </a:solidFill>
          <a:ln>
            <a:solidFill>
              <a:srgbClr val="46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691639"/>
            <a:ext cx="1024128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BEEF0"/>
                </a:solidFill>
                <a:latin typeface="Consolas"/>
              </a:defRPr>
            </a:pPr>
            <a:r>
              <a:rPr dirty="0"/>
              <a:t>&lt;</a:t>
            </a:r>
            <a:r>
              <a:rPr dirty="0" err="1"/>
              <a:t>ol</a:t>
            </a:r>
            <a:r>
              <a:rPr dirty="0"/>
              <a:t>&gt;</a:t>
            </a:r>
            <a:br>
              <a:rPr dirty="0"/>
            </a:br>
            <a:r>
              <a:rPr dirty="0"/>
              <a:t>  &lt;li&gt;Step one&lt;/li&gt;</a:t>
            </a:r>
            <a:br>
              <a:rPr dirty="0"/>
            </a:br>
            <a:r>
              <a:rPr dirty="0"/>
              <a:t>  &lt;li&gt;Step two&lt;/li&gt;</a:t>
            </a:r>
            <a:br>
              <a:rPr dirty="0"/>
            </a:br>
            <a:r>
              <a:rPr dirty="0"/>
              <a:t>&lt;/</a:t>
            </a:r>
            <a:r>
              <a:rPr dirty="0" err="1"/>
              <a:t>ol</a:t>
            </a:r>
            <a:r>
              <a:rPr dirty="0"/>
              <a:t>&gt;</a:t>
            </a:r>
            <a:br>
              <a:rPr dirty="0"/>
            </a:br>
            <a:br>
              <a:rPr dirty="0"/>
            </a:br>
            <a:r>
              <a:rPr dirty="0"/>
              <a:t>&lt;table&gt;</a:t>
            </a:r>
            <a:br>
              <a:rPr dirty="0"/>
            </a:br>
            <a:r>
              <a:rPr dirty="0"/>
              <a:t>  &lt;tr&gt;&lt;</a:t>
            </a:r>
            <a:r>
              <a:rPr dirty="0" err="1"/>
              <a:t>th</a:t>
            </a:r>
            <a:r>
              <a:rPr dirty="0"/>
              <a:t>&gt;Name&lt;/</a:t>
            </a:r>
            <a:r>
              <a:rPr dirty="0" err="1"/>
              <a:t>th</a:t>
            </a:r>
            <a:r>
              <a:rPr dirty="0"/>
              <a:t>&gt;&lt;</a:t>
            </a:r>
            <a:r>
              <a:rPr dirty="0" err="1"/>
              <a:t>th</a:t>
            </a:r>
            <a:r>
              <a:rPr dirty="0"/>
              <a:t>&gt;Age&lt;/</a:t>
            </a:r>
            <a:r>
              <a:rPr dirty="0" err="1"/>
              <a:t>th</a:t>
            </a:r>
            <a:r>
              <a:rPr dirty="0"/>
              <a:t>&gt;&lt;/tr&gt;</a:t>
            </a:r>
            <a:br>
              <a:rPr dirty="0"/>
            </a:br>
            <a:r>
              <a:rPr dirty="0"/>
              <a:t>  &lt;tr&gt;&lt;td&gt;Alex&lt;/td&gt;&lt;td&gt;16&lt;/td&gt;&lt;/tr&gt;</a:t>
            </a:r>
            <a:br>
              <a:rPr dirty="0"/>
            </a:br>
            <a:r>
              <a:rPr dirty="0"/>
              <a:t>&lt;/table&gt;</a:t>
            </a:r>
            <a:br>
              <a:rPr dirty="0"/>
            </a:br>
            <a:br>
              <a:rPr dirty="0"/>
            </a:br>
            <a:r>
              <a:rPr dirty="0"/>
              <a:t>&lt;form&gt;</a:t>
            </a:r>
            <a:br>
              <a:rPr dirty="0"/>
            </a:br>
            <a:r>
              <a:rPr dirty="0"/>
              <a:t>  &lt;label for="email"&gt;Email:&lt;/label&gt;</a:t>
            </a:r>
            <a:br>
              <a:rPr dirty="0"/>
            </a:br>
            <a:r>
              <a:rPr dirty="0"/>
              <a:t>  &lt;input id="email" type="email"&gt;</a:t>
            </a:r>
            <a:br>
              <a:rPr dirty="0"/>
            </a:br>
            <a:r>
              <a:rPr dirty="0"/>
              <a:t>  &lt;button type="submit"&gt;Send&lt;/button&gt;</a:t>
            </a:r>
            <a:br>
              <a:rPr dirty="0"/>
            </a:br>
            <a:r>
              <a:rPr dirty="0"/>
              <a:t>&lt;/form&gt;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31558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rPr lang="de-DE" dirty="0"/>
              <a:t>Organisiertes HTML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572220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rPr lang="de-DE" dirty="0"/>
              <a:t>Wähle Elemente nach ihrer Bedeutung, nicht nur nach ihrem Aussehen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D37"/>
                </a:solidFill>
              </a:defRPr>
            </a:pPr>
            <a:r>
              <a:rPr dirty="0"/>
              <a:t>• &lt;header&gt; — </a:t>
            </a:r>
            <a:r>
              <a:rPr lang="de-DE" dirty="0"/>
              <a:t>Einführender Inhalt oder Seitenkopf</a:t>
            </a:r>
          </a:p>
          <a:p>
            <a:pPr>
              <a:spcAft>
                <a:spcPts val="1000"/>
              </a:spcAft>
              <a:defRPr sz="1800">
                <a:solidFill>
                  <a:srgbClr val="282D37"/>
                </a:solidFill>
              </a:defRPr>
            </a:pPr>
            <a:r>
              <a:rPr dirty="0"/>
              <a:t>• &lt;nav&gt; — navigation links</a:t>
            </a:r>
          </a:p>
          <a:p>
            <a:pPr>
              <a:spcAft>
                <a:spcPts val="1000"/>
              </a:spcAft>
              <a:defRPr sz="1800">
                <a:solidFill>
                  <a:srgbClr val="282D37"/>
                </a:solidFill>
              </a:defRPr>
            </a:pPr>
            <a:r>
              <a:rPr dirty="0"/>
              <a:t>• &lt;main&gt; — </a:t>
            </a:r>
            <a:r>
              <a:rPr lang="de-DE" dirty="0"/>
              <a:t>Der Hauptinhalt der Seite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282D37"/>
                </a:solidFill>
              </a:defRPr>
            </a:pPr>
            <a:r>
              <a:rPr dirty="0"/>
              <a:t>• &lt;section&gt; — </a:t>
            </a:r>
            <a:r>
              <a:rPr lang="de-DE" dirty="0"/>
              <a:t>Eine thematische Gruppierung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282D37"/>
                </a:solidFill>
              </a:defRPr>
            </a:pPr>
            <a:r>
              <a:rPr dirty="0"/>
              <a:t>• &lt;article&gt; — </a:t>
            </a:r>
            <a:r>
              <a:rPr lang="de-DE" dirty="0"/>
              <a:t>ein in sich geschlossenes Inhaltsstück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282D37"/>
                </a:solidFill>
              </a:defRPr>
            </a:pPr>
            <a:r>
              <a:rPr dirty="0"/>
              <a:t>• &lt;aside&gt; — </a:t>
            </a:r>
            <a:r>
              <a:rPr lang="de-DE" dirty="0"/>
              <a:t>Ergänzende Inhalte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282D37"/>
                </a:solidFill>
              </a:defRPr>
            </a:pPr>
            <a:r>
              <a:rPr dirty="0"/>
              <a:t>• &lt;footer&gt; — </a:t>
            </a:r>
            <a:r>
              <a:rPr lang="de-DE" dirty="0"/>
              <a:t>Abschlussinformationen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21645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rPr lang="de-DE" dirty="0"/>
              <a:t>Die Ordnerstruktur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Keep HTML, CSS, images and other assets organised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9875520" cy="4114800"/>
          </a:xfrm>
          <a:prstGeom prst="roundRect">
            <a:avLst/>
          </a:prstGeom>
          <a:solidFill>
            <a:srgbClr val="1B1F24"/>
          </a:solidFill>
          <a:ln>
            <a:solidFill>
              <a:srgbClr val="46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9418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BEEF0"/>
                </a:solidFill>
                <a:latin typeface="Consolas"/>
              </a:defRPr>
            </a:pPr>
            <a:r>
              <a:t>my-website/</a:t>
            </a:r>
            <a:br/>
            <a:r>
              <a:t>├── index.html</a:t>
            </a:r>
            <a:br/>
            <a:r>
              <a:t>├── about.html</a:t>
            </a:r>
            <a:br/>
            <a:r>
              <a:t>├── css/</a:t>
            </a:r>
            <a:br/>
            <a:r>
              <a:t>│   └── style.css</a:t>
            </a:r>
            <a:br/>
            <a:r>
              <a:t>├── images/</a:t>
            </a:r>
            <a:br/>
            <a:r>
              <a:t>│   ├── logo.png</a:t>
            </a:r>
            <a:br/>
            <a:r>
              <a:t>│   └── hero.jpg</a:t>
            </a:r>
            <a:br/>
            <a:r>
              <a:t>└── js/</a:t>
            </a:r>
            <a:br/>
            <a:r>
              <a:t>    └── script.js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23560"/>
            <a:ext cx="9601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2D37"/>
                </a:solidFill>
              </a:defRPr>
            </a:pPr>
            <a:r>
              <a:rPr lang="de-DE" dirty="0"/>
              <a:t>• Die genaue Struktur kann variieren; Die wichtige Idee ist eine vorhersehbare Trennung der Anliegen.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8AC744-72FB-F783-F51C-F2BA766F2B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9" b="19910"/>
          <a:stretch/>
        </p:blipFill>
        <p:spPr>
          <a:xfrm>
            <a:off x="4233333" y="2756748"/>
            <a:ext cx="5339826" cy="16594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30010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rPr lang="de-DE" dirty="0"/>
              <a:t>Verknüpfung von HTML und CSS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397063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rPr lang="de-DE" dirty="0"/>
              <a:t>Externe CSS ist in der Regel der sauberste Ansatz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6001172" cy="4206240"/>
          </a:xfrm>
          <a:prstGeom prst="roundRect">
            <a:avLst/>
          </a:prstGeom>
          <a:solidFill>
            <a:srgbClr val="1B1F24"/>
          </a:solidFill>
          <a:ln>
            <a:solidFill>
              <a:srgbClr val="46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>
                <a:solidFill>
                  <a:schemeClr val="tx2">
                    <a:lumMod val="50000"/>
                  </a:schemeClr>
                </a:solidFill>
              </a:rPr>
              <a:t>HTML DATEI</a:t>
            </a:r>
            <a:endParaRPr sz="4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0119" y="1691639"/>
            <a:ext cx="5772573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BEEF0"/>
                </a:solidFill>
                <a:latin typeface="Consolas"/>
              </a:defRPr>
            </a:pPr>
            <a:r>
              <a:rPr dirty="0"/>
              <a:t>&lt;!-- index.html --&gt;</a:t>
            </a:r>
            <a:br>
              <a:rPr dirty="0"/>
            </a:br>
            <a:r>
              <a:rPr dirty="0"/>
              <a:t>&lt;head&gt;</a:t>
            </a:r>
            <a:br>
              <a:rPr dirty="0"/>
            </a:br>
            <a:r>
              <a:rPr dirty="0"/>
              <a:t>  &lt;link </a:t>
            </a:r>
            <a:r>
              <a:rPr dirty="0" err="1"/>
              <a:t>rel</a:t>
            </a:r>
            <a:r>
              <a:rPr dirty="0"/>
              <a:t>="stylesheet" </a:t>
            </a:r>
            <a:r>
              <a:rPr dirty="0" err="1"/>
              <a:t>href</a:t>
            </a:r>
            <a:r>
              <a:rPr dirty="0"/>
              <a:t>="</a:t>
            </a:r>
            <a:r>
              <a:rPr dirty="0" err="1"/>
              <a:t>css</a:t>
            </a:r>
            <a:r>
              <a:rPr dirty="0"/>
              <a:t>/style.css"&gt;</a:t>
            </a:r>
            <a:br>
              <a:rPr dirty="0"/>
            </a:br>
            <a:r>
              <a:rPr dirty="0"/>
              <a:t>&lt;/head&gt;</a:t>
            </a:r>
            <a:br>
              <a:rPr dirty="0"/>
            </a:br>
            <a:br>
              <a:rPr dirty="0"/>
            </a:br>
            <a:endParaRPr lang="de-DE" dirty="0"/>
          </a:p>
        </p:txBody>
      </p:sp>
      <p:sp>
        <p:nvSpPr>
          <p:cNvPr id="6" name="TextBox 5"/>
          <p:cNvSpPr txBox="1"/>
          <p:nvPr/>
        </p:nvSpPr>
        <p:spPr>
          <a:xfrm>
            <a:off x="868680" y="5908039"/>
            <a:ext cx="10058400" cy="682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2D37"/>
                </a:solidFill>
              </a:defRPr>
            </a:pPr>
            <a:r>
              <a:rPr dirty="0"/>
              <a:t>• </a:t>
            </a:r>
            <a:r>
              <a:rPr dirty="0" err="1"/>
              <a:t>href</a:t>
            </a:r>
            <a:r>
              <a:rPr dirty="0"/>
              <a:t>="</a:t>
            </a:r>
            <a:r>
              <a:rPr dirty="0" err="1"/>
              <a:t>css</a:t>
            </a:r>
            <a:r>
              <a:rPr dirty="0"/>
              <a:t>/style.css" </a:t>
            </a:r>
            <a:r>
              <a:rPr lang="de-DE" dirty="0"/>
              <a:t>ist ein relativer Weg von index.html.</a:t>
            </a:r>
          </a:p>
          <a:p>
            <a:pPr>
              <a:spcAft>
                <a:spcPts val="1000"/>
              </a:spcAft>
              <a:defRPr sz="1500">
                <a:solidFill>
                  <a:srgbClr val="282D37"/>
                </a:solidFill>
              </a:defRPr>
            </a:pPr>
            <a:r>
              <a:rPr dirty="0"/>
              <a:t>• </a:t>
            </a:r>
            <a:r>
              <a:rPr lang="de-DE" dirty="0"/>
              <a:t>Setze das &lt;link&gt; Element in &lt;</a:t>
            </a:r>
            <a:r>
              <a:rPr lang="de-DE" dirty="0" err="1"/>
              <a:t>head</a:t>
            </a:r>
            <a:r>
              <a:rPr lang="de-DE" dirty="0"/>
              <a:t>&gt;.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10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B7639B3-2268-627B-2AAA-61D7B7E88113}"/>
              </a:ext>
            </a:extLst>
          </p:cNvPr>
          <p:cNvSpPr/>
          <p:nvPr/>
        </p:nvSpPr>
        <p:spPr>
          <a:xfrm>
            <a:off x="7269482" y="1508760"/>
            <a:ext cx="4160518" cy="4206240"/>
          </a:xfrm>
          <a:prstGeom prst="roundRect">
            <a:avLst/>
          </a:prstGeom>
          <a:solidFill>
            <a:srgbClr val="1B1F24"/>
          </a:solidFill>
          <a:ln>
            <a:solidFill>
              <a:srgbClr val="46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800" dirty="0">
                <a:solidFill>
                  <a:schemeClr val="tx2">
                    <a:lumMod val="50000"/>
                  </a:schemeClr>
                </a:solidFill>
              </a:rPr>
              <a:t>CSS DATEI</a:t>
            </a:r>
            <a:endParaRPr sz="4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88002D-62E0-AFA8-7B3D-7F08838BBB40}"/>
              </a:ext>
            </a:extLst>
          </p:cNvPr>
          <p:cNvSpPr txBox="1"/>
          <p:nvPr/>
        </p:nvSpPr>
        <p:spPr>
          <a:xfrm>
            <a:off x="7800563" y="1942312"/>
            <a:ext cx="3278917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BEEF0"/>
                </a:solidFill>
                <a:latin typeface="Consolas"/>
              </a:defRPr>
            </a:pPr>
            <a:r>
              <a:rPr lang="en-US" dirty="0"/>
              <a:t>/* </a:t>
            </a:r>
            <a:r>
              <a:rPr lang="en-US" dirty="0" err="1"/>
              <a:t>css</a:t>
            </a:r>
            <a:r>
              <a:rPr lang="en-US" dirty="0"/>
              <a:t>/style.css */</a:t>
            </a:r>
          </a:p>
          <a:p>
            <a:pPr>
              <a:defRPr sz="1700">
                <a:solidFill>
                  <a:srgbClr val="EBEEF0"/>
                </a:solidFill>
                <a:latin typeface="Consolas"/>
              </a:defRPr>
            </a:pPr>
            <a:r>
              <a:rPr lang="en-US" dirty="0"/>
              <a:t>body {</a:t>
            </a:r>
            <a:br>
              <a:rPr lang="en-US" dirty="0"/>
            </a:br>
            <a:r>
              <a:rPr lang="en-US" dirty="0"/>
              <a:t>  background: #f4f4f4;</a:t>
            </a:r>
            <a:br>
              <a:rPr lang="en-US" dirty="0"/>
            </a:br>
            <a:r>
              <a:rPr lang="en-US" dirty="0"/>
              <a:t>  color: #222;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45913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rPr lang="de-DE" dirty="0"/>
              <a:t>Relative Wege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534171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rPr lang="de-DE" dirty="0"/>
              <a:t>Pfade zeigen dem Browser an, wo sich eine weitere Datei befindet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5780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882247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E324B"/>
                </a:solidFill>
              </a:defRPr>
            </a:pPr>
            <a:r>
              <a:rPr lang="de-DE" dirty="0"/>
              <a:t>Von</a:t>
            </a:r>
            <a:r>
              <a:rPr dirty="0"/>
              <a:t> index.html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663440" cy="113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rPr dirty="0"/>
              <a:t>• </a:t>
            </a:r>
            <a:r>
              <a:rPr dirty="0" err="1"/>
              <a:t>css</a:t>
            </a:r>
            <a:r>
              <a:rPr dirty="0"/>
              <a:t>/style.css → </a:t>
            </a:r>
            <a:r>
              <a:rPr lang="de-DE" dirty="0"/>
              <a:t>CSS-Ordner, dann style.css</a:t>
            </a:r>
            <a:endParaRPr dirty="0"/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rPr dirty="0"/>
              <a:t>• images/logo.png → </a:t>
            </a:r>
            <a:r>
              <a:rPr lang="de-DE" dirty="0"/>
              <a:t>Bilderordner, dann logo.png</a:t>
            </a:r>
            <a:endParaRPr dirty="0"/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rPr dirty="0"/>
              <a:t>• about.html → </a:t>
            </a:r>
            <a:r>
              <a:rPr lang="de-DE" dirty="0"/>
              <a:t>Datei neben </a:t>
            </a:r>
            <a:r>
              <a:rPr dirty="0"/>
              <a:t>index.html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25780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59" y="1645920"/>
            <a:ext cx="295651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E324B"/>
                </a:solidFill>
              </a:defRPr>
            </a:pPr>
            <a:r>
              <a:rPr lang="de-DE" dirty="0"/>
              <a:t>Einen Ordner hochgehen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537959" y="2148840"/>
            <a:ext cx="4663440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rPr dirty="0"/>
              <a:t>• ../ → </a:t>
            </a:r>
            <a:r>
              <a:rPr lang="de-DE" dirty="0"/>
              <a:t>Elternordner</a:t>
            </a:r>
            <a:endParaRPr dirty="0"/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rPr dirty="0"/>
              <a:t>• ../images/photo.jpg → </a:t>
            </a:r>
            <a:r>
              <a:rPr lang="de-DE" dirty="0"/>
              <a:t>Gehen Sie nach oben, dann in Bilder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88987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rPr dirty="0"/>
              <a:t>CSS </a:t>
            </a:r>
            <a:r>
              <a:rPr lang="de-DE" dirty="0"/>
              <a:t>Syntax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464864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rPr lang="de-DE" dirty="0"/>
              <a:t>Eine Regel besteht aus einem Selektor und Deklarationen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348738"/>
            <a:ext cx="10698480" cy="4206240"/>
          </a:xfrm>
          <a:prstGeom prst="roundRect">
            <a:avLst/>
          </a:prstGeom>
          <a:solidFill>
            <a:srgbClr val="1B1F24"/>
          </a:solidFill>
          <a:ln>
            <a:solidFill>
              <a:srgbClr val="46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60120" y="1531617"/>
            <a:ext cx="1024128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BEEF0"/>
                </a:solidFill>
                <a:latin typeface="Consolas"/>
              </a:defRPr>
            </a:pPr>
            <a:r>
              <a:rPr dirty="0"/>
              <a:t>p {</a:t>
            </a:r>
            <a:br>
              <a:rPr dirty="0"/>
            </a:br>
            <a:r>
              <a:rPr dirty="0"/>
              <a:t>  color: navy;</a:t>
            </a:r>
            <a:br>
              <a:rPr dirty="0"/>
            </a:br>
            <a:r>
              <a:rPr dirty="0"/>
              <a:t>  font-size: 18px;</a:t>
            </a:r>
            <a:br>
              <a:rPr dirty="0"/>
            </a:br>
            <a:r>
              <a:rPr dirty="0"/>
              <a:t>  margin-bottom: 12px;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.highlight {</a:t>
            </a:r>
            <a:br>
              <a:rPr dirty="0"/>
            </a:br>
            <a:r>
              <a:rPr dirty="0"/>
              <a:t>  background: yellow;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#main-title {</a:t>
            </a:r>
            <a:br>
              <a:rPr dirty="0"/>
            </a:br>
            <a:r>
              <a:rPr dirty="0"/>
              <a:t>  font-size: 40px;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241280" cy="104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2D37"/>
                </a:solidFill>
              </a:defRPr>
            </a:pPr>
            <a:r>
              <a:rPr dirty="0"/>
              <a:t>• Selector: </a:t>
            </a:r>
            <a:r>
              <a:rPr lang="de-DE" dirty="0"/>
              <a:t>Was soll man anvisieren</a:t>
            </a:r>
            <a:endParaRPr dirty="0"/>
          </a:p>
          <a:p>
            <a:pPr>
              <a:spcAft>
                <a:spcPts val="1000"/>
              </a:spcAft>
              <a:defRPr sz="1500">
                <a:solidFill>
                  <a:srgbClr val="282D37"/>
                </a:solidFill>
              </a:defRPr>
            </a:pPr>
            <a:r>
              <a:rPr dirty="0"/>
              <a:t>• Property: </a:t>
            </a:r>
            <a:r>
              <a:rPr lang="de-DE" dirty="0"/>
              <a:t>Was man ändern sollte</a:t>
            </a:r>
            <a:endParaRPr dirty="0"/>
          </a:p>
          <a:p>
            <a:pPr>
              <a:spcAft>
                <a:spcPts val="1000"/>
              </a:spcAft>
              <a:defRPr sz="1500">
                <a:solidFill>
                  <a:srgbClr val="282D37"/>
                </a:solidFill>
              </a:defRPr>
            </a:pPr>
            <a:r>
              <a:rPr dirty="0"/>
              <a:t>• </a:t>
            </a:r>
            <a:r>
              <a:rPr lang="de-DE" dirty="0"/>
              <a:t>Wert: Wie es verändert werden sollte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59101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rPr lang="de-DE" dirty="0"/>
              <a:t>Selektoren, die du kennen solltest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10698480" cy="4206240"/>
          </a:xfrm>
          <a:prstGeom prst="roundRect">
            <a:avLst/>
          </a:prstGeom>
          <a:solidFill>
            <a:srgbClr val="1B1F24"/>
          </a:solidFill>
          <a:ln>
            <a:solidFill>
              <a:srgbClr val="46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691639"/>
            <a:ext cx="102412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BEEF0"/>
                </a:solidFill>
                <a:latin typeface="Consolas"/>
              </a:defRPr>
            </a:pPr>
            <a:r>
              <a:rPr dirty="0"/>
              <a:t>p { }                 /* </a:t>
            </a:r>
            <a:r>
              <a:rPr lang="de-DE" dirty="0"/>
              <a:t>Jeder</a:t>
            </a:r>
            <a:r>
              <a:rPr dirty="0"/>
              <a:t> &lt;p&gt; */</a:t>
            </a:r>
            <a:br>
              <a:rPr dirty="0"/>
            </a:br>
            <a:r>
              <a:rPr dirty="0"/>
              <a:t>.card { }             /* class="card" */</a:t>
            </a:r>
            <a:br>
              <a:rPr dirty="0"/>
            </a:br>
            <a:r>
              <a:rPr dirty="0"/>
              <a:t>#header { }           /* id="header" */</a:t>
            </a:r>
            <a:br>
              <a:rPr dirty="0"/>
            </a:br>
            <a:r>
              <a:rPr dirty="0"/>
              <a:t>nav a { }             /* &lt;a&gt; </a:t>
            </a:r>
            <a:r>
              <a:rPr lang="de-DE" dirty="0"/>
              <a:t>in</a:t>
            </a:r>
            <a:r>
              <a:rPr dirty="0"/>
              <a:t> &lt;nav&gt; */</a:t>
            </a:r>
            <a:br>
              <a:rPr dirty="0"/>
            </a:br>
            <a:r>
              <a:rPr dirty="0"/>
              <a:t>.card p { }           /* &lt;p&gt; </a:t>
            </a:r>
            <a:r>
              <a:rPr lang="de-DE" dirty="0"/>
              <a:t>in</a:t>
            </a:r>
            <a:r>
              <a:rPr dirty="0"/>
              <a:t> .card */</a:t>
            </a:r>
            <a:br>
              <a:rPr dirty="0"/>
            </a:br>
            <a:r>
              <a:rPr dirty="0" err="1"/>
              <a:t>button:hover</a:t>
            </a:r>
            <a:r>
              <a:rPr dirty="0"/>
              <a:t> { }      /* mouse-over state */</a:t>
            </a:r>
            <a:br>
              <a:rPr dirty="0"/>
            </a:br>
            <a:r>
              <a:rPr dirty="0"/>
              <a:t>input[type="email"] {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13120"/>
            <a:ext cx="10332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2D37"/>
                </a:solidFill>
              </a:defRPr>
            </a:pPr>
            <a:r>
              <a:rPr dirty="0"/>
              <a:t>• </a:t>
            </a:r>
            <a:r>
              <a:rPr lang="de-DE" dirty="0"/>
              <a:t>Klassen sind wiederverwendbar; IDs sollten in der Regel innerhalb einer Seite einmalig sein.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24031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rPr lang="de-DE" dirty="0"/>
              <a:t>Das CSS-Boxmodell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386317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rPr lang="de-DE" dirty="0"/>
              <a:t>Jedes Element kann als Box verstanden werden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1005840" y="1371600"/>
            <a:ext cx="10149840" cy="4023360"/>
          </a:xfrm>
          <a:prstGeom prst="roundRect">
            <a:avLst/>
          </a:prstGeom>
          <a:solidFill>
            <a:srgbClr val="1B1F24"/>
          </a:solidFill>
          <a:ln>
            <a:solidFill>
              <a:srgbClr val="46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581400" y="1920240"/>
            <a:ext cx="57302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BEEF0"/>
                </a:solidFill>
                <a:latin typeface="Consolas"/>
              </a:defRPr>
            </a:pPr>
            <a:r>
              <a:rPr dirty="0"/>
              <a:t>┌──────────────────────────────┐</a:t>
            </a:r>
            <a:br>
              <a:rPr dirty="0"/>
            </a:br>
            <a:r>
              <a:rPr dirty="0"/>
              <a:t>│            margin            │</a:t>
            </a:r>
            <a:br>
              <a:rPr dirty="0"/>
            </a:br>
            <a:r>
              <a:rPr dirty="0"/>
              <a:t>│  ┌────────────────────────┐  │</a:t>
            </a:r>
            <a:br>
              <a:rPr dirty="0"/>
            </a:br>
            <a:r>
              <a:rPr dirty="0"/>
              <a:t>│  │         border         │  │</a:t>
            </a:r>
            <a:br>
              <a:rPr dirty="0"/>
            </a:br>
            <a:r>
              <a:rPr dirty="0"/>
              <a:t>│  │  ┌──────────────────┐  │  │</a:t>
            </a:r>
            <a:br>
              <a:rPr dirty="0"/>
            </a:br>
            <a:r>
              <a:rPr dirty="0"/>
              <a:t>│  │  │      padding     │  │  │</a:t>
            </a:r>
            <a:br>
              <a:rPr dirty="0"/>
            </a:br>
            <a:r>
              <a:rPr dirty="0"/>
              <a:t>│  │  │  ┌────────────┐  │  │  │</a:t>
            </a:r>
            <a:br>
              <a:rPr dirty="0"/>
            </a:br>
            <a:r>
              <a:rPr dirty="0"/>
              <a:t>│  │  │  │   content  │  │  │  │</a:t>
            </a:r>
            <a:br>
              <a:rPr dirty="0"/>
            </a:br>
            <a:r>
              <a:rPr dirty="0"/>
              <a:t>│  │  │  └────────────┘  │  │  │</a:t>
            </a:r>
            <a:br>
              <a:rPr dirty="0"/>
            </a:br>
            <a:r>
              <a:rPr dirty="0"/>
              <a:t>│  │  └──────────────────┘  │  │</a:t>
            </a:r>
            <a:br>
              <a:rPr dirty="0"/>
            </a:br>
            <a:r>
              <a:rPr dirty="0"/>
              <a:t>│  └────────────────────────┘  │</a:t>
            </a:r>
            <a:br>
              <a:rPr dirty="0"/>
            </a:br>
            <a:r>
              <a:rPr dirty="0"/>
              <a:t>└──────────────────────────────┘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577840"/>
            <a:ext cx="9966960" cy="682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2D37"/>
                </a:solidFill>
              </a:defRPr>
            </a:pPr>
            <a:r>
              <a:rPr dirty="0"/>
              <a:t>• content → padding → border → margin</a:t>
            </a:r>
          </a:p>
          <a:p>
            <a:pPr>
              <a:spcAft>
                <a:spcPts val="1000"/>
              </a:spcAft>
              <a:defRPr sz="1500">
                <a:solidFill>
                  <a:srgbClr val="282D37"/>
                </a:solidFill>
              </a:defRPr>
            </a:pPr>
            <a:r>
              <a:rPr dirty="0"/>
              <a:t>• </a:t>
            </a:r>
            <a:r>
              <a:rPr lang="de-DE" dirty="0"/>
              <a:t>Ein nützlicher Standard = </a:t>
            </a:r>
            <a:r>
              <a:rPr dirty="0"/>
              <a:t> box-sizing: border-box;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4017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rPr lang="de-DE" dirty="0"/>
              <a:t>Layout: </a:t>
            </a:r>
            <a:r>
              <a:rPr lang="de-DE" dirty="0" err="1"/>
              <a:t>Flexbox</a:t>
            </a:r>
            <a:r>
              <a:rPr lang="de-DE" dirty="0"/>
              <a:t> und </a:t>
            </a:r>
            <a:r>
              <a:rPr lang="de-DE" dirty="0" err="1"/>
              <a:t>Grid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525780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E324B"/>
                </a:solidFill>
              </a:defRPr>
            </a:pPr>
            <a:r>
              <a:t>Flexbox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466344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rPr dirty="0"/>
              <a:t>• </a:t>
            </a:r>
            <a:r>
              <a:rPr lang="de-DE" dirty="0"/>
              <a:t>Am besten für eindimensionale Layouts.
• Ideal für Zeilen, Spalten, Navigationsbalken und Ausrichtung.
• Display: Flex;
• Nützliche Eigenschaften: Lücke, </a:t>
            </a:r>
            <a:r>
              <a:rPr lang="de-DE" dirty="0" err="1"/>
              <a:t>Justify</a:t>
            </a:r>
            <a:r>
              <a:rPr lang="de-DE" dirty="0"/>
              <a:t>-Content, </a:t>
            </a:r>
            <a:r>
              <a:rPr lang="de-DE" dirty="0" err="1"/>
              <a:t>Align</a:t>
            </a:r>
            <a:r>
              <a:rPr lang="de-DE" dirty="0"/>
              <a:t>-Items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25780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59" y="164592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E324B"/>
                </a:solidFill>
              </a:defRPr>
            </a:pPr>
            <a:r>
              <a:t>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9" y="2148840"/>
            <a:ext cx="466344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rPr dirty="0"/>
              <a:t>• </a:t>
            </a:r>
            <a:r>
              <a:rPr lang="de-DE" dirty="0"/>
              <a:t>Am besten für zweidimensionale Layouts.
• Hervorragend für Seitenbereiche und Kartengalerien.
• Display: Raster;
• Nützliche Eigenschaften: Gitter-Vorlagen-Spalten, Lücke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t>A small complete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577840" cy="4846320"/>
          </a:xfrm>
          <a:prstGeom prst="roundRect">
            <a:avLst/>
          </a:prstGeom>
          <a:solidFill>
            <a:srgbClr val="1B1F24"/>
          </a:solidFill>
          <a:ln>
            <a:solidFill>
              <a:srgbClr val="46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51206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BEEF0"/>
                </a:solidFill>
                <a:latin typeface="Consolas"/>
              </a:defRPr>
            </a:pPr>
            <a:r>
              <a:t>&lt;!-- index.html --&gt;</a:t>
            </a:r>
            <a:br/>
            <a:r>
              <a:t>&lt;!doctype html&gt;</a:t>
            </a:r>
            <a:br/>
            <a:r>
              <a:t>&lt;html lang="en"&gt;</a:t>
            </a:r>
            <a:br/>
            <a:r>
              <a:t>&lt;head&gt;</a:t>
            </a:r>
            <a:br/>
            <a:r>
              <a:t>  &lt;meta charset="utf-8"&gt;</a:t>
            </a:r>
            <a:br/>
            <a:r>
              <a:t>  &lt;title&gt;My Card&lt;/title&gt;</a:t>
            </a:r>
            <a:br/>
            <a:r>
              <a:t>  &lt;link rel="stylesheet" href="css/style.css"&gt;</a:t>
            </a:r>
            <a:br/>
            <a:r>
              <a:t>&lt;/head&gt;</a:t>
            </a:r>
            <a:br/>
            <a:r>
              <a:t>&lt;body&gt;</a:t>
            </a:r>
            <a:br/>
            <a:r>
              <a:t>  &lt;main class="card"&gt;</a:t>
            </a:r>
            <a:br/>
            <a:r>
              <a:t>    &lt;h1&gt;Welcome!&lt;/h1&gt;</a:t>
            </a:r>
            <a:br/>
            <a:r>
              <a:t>    &lt;p&gt;This page is styled with CSS.&lt;/p&gt;</a:t>
            </a:r>
            <a:br/>
            <a:r>
              <a:t>    &lt;a href="about.html"&gt;Learn more&lt;/a&gt;</a:t>
            </a:r>
            <a:br/>
            <a:r>
              <a:t>  &lt;/main&gt;</a:t>
            </a:r>
            <a:br/>
            <a:r>
              <a:t>&lt;/body&gt;</a:t>
            </a:r>
            <a:br/>
            <a:r>
              <a:t>&lt;/html&gt;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5120640" cy="4846320"/>
          </a:xfrm>
          <a:prstGeom prst="roundRect">
            <a:avLst/>
          </a:prstGeom>
          <a:solidFill>
            <a:srgbClr val="1B1F24"/>
          </a:solidFill>
          <a:ln>
            <a:solidFill>
              <a:srgbClr val="46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0" y="1463039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BEEF0"/>
                </a:solidFill>
                <a:latin typeface="Consolas"/>
              </a:defRPr>
            </a:pPr>
            <a:r>
              <a:t>/* css/style.css */</a:t>
            </a:r>
            <a:br/>
            <a:r>
              <a:t>body {</a:t>
            </a:r>
            <a:br/>
            <a:r>
              <a:t>  font-family: Arial, sans-serif;</a:t>
            </a:r>
            <a:br/>
            <a:r>
              <a:t>  display: grid;</a:t>
            </a:r>
            <a:br/>
            <a:r>
              <a:t>  place-items: center;</a:t>
            </a:r>
            <a:br/>
            <a:r>
              <a:t>  min-height: 100vh;</a:t>
            </a:r>
            <a:br/>
            <a:r>
              <a:t>}</a:t>
            </a:r>
            <a:br/>
            <a:br/>
            <a:r>
              <a:t>.card {</a:t>
            </a:r>
            <a:br/>
            <a:r>
              <a:t>  padding: 2rem;</a:t>
            </a:r>
            <a:br/>
            <a:r>
              <a:t>  border: 1px solid #ccc;</a:t>
            </a:r>
            <a:br/>
            <a:r>
              <a:t>  border-radius: 12px;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89645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rPr lang="de-DE" dirty="0"/>
              <a:t>Häufige Anfängerfehler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rPr dirty="0"/>
              <a:t>• </a:t>
            </a:r>
            <a:r>
              <a:rPr lang="de-DE" dirty="0"/>
              <a:t>Falsche Wege: </a:t>
            </a:r>
            <a:r>
              <a:rPr lang="de-DE" dirty="0" err="1"/>
              <a:t>css</a:t>
            </a:r>
            <a:r>
              <a:rPr lang="de-DE" dirty="0"/>
              <a:t>/style.css vs. /</a:t>
            </a:r>
            <a:r>
              <a:rPr lang="de-DE" dirty="0" err="1"/>
              <a:t>css</a:t>
            </a:r>
            <a:r>
              <a:rPr lang="de-DE" dirty="0"/>
              <a:t>/style.css vs. .. /</a:t>
            </a:r>
            <a:r>
              <a:rPr lang="de-DE" dirty="0" err="1"/>
              <a:t>css</a:t>
            </a:r>
            <a:r>
              <a:rPr lang="de-DE" dirty="0"/>
              <a:t>/style.css.
• Fehlende oder falsch verschachtelte Schluss-Tags.
• &lt;</a:t>
            </a:r>
            <a:r>
              <a:rPr lang="de-DE" dirty="0" err="1"/>
              <a:t>br</a:t>
            </a:r>
            <a:r>
              <a:rPr lang="de-DE" dirty="0"/>
              <a:t>&gt; Wiederholt verwenden, um Abstände statt CSS zu erzeugen.
• Präsentation direkt in HTML mit viel Stil="..." Attribute.
• IDs für alles anstelle wiederverwendbarer Klassen zu verwenden.
• Vergessen von Alt-Text bei bedeutungsvollen Bildern.
• CSS ändern, aber eine zwischengespeicherte Seite betrachten – neu laden und </a:t>
            </a:r>
            <a:r>
              <a:rPr lang="de-DE" dirty="0" err="1"/>
              <a:t>DevTools</a:t>
            </a:r>
            <a:r>
              <a:rPr lang="de-DE" dirty="0"/>
              <a:t> im Browser verwenden.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t>How to test your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• Open index.html in a modern browser.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• Use Developer Tools (F12) to inspect elements and experiment with CSS.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• Check the Console for errors when JavaScript is involved.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• Resize the browser window to test responsive behavior.</a:t>
            </a:r>
          </a:p>
          <a:p>
            <a:pPr>
              <a:spcAft>
                <a:spcPts val="1000"/>
              </a:spcAft>
              <a:defRPr sz="1900">
                <a:solidFill>
                  <a:srgbClr val="282D37"/>
                </a:solidFill>
              </a:defRPr>
            </a:pPr>
            <a:r>
              <a:t>• Validate your HTML and pay attention to accessibility: headings, labels, alt text, keyboard navigation.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t>HTML vs. CSS — the mental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1417320"/>
            <a:ext cx="10149840" cy="4297680"/>
          </a:xfrm>
          <a:prstGeom prst="roundRect">
            <a:avLst/>
          </a:prstGeom>
          <a:solidFill>
            <a:srgbClr val="1B1F24"/>
          </a:solidFill>
          <a:ln>
            <a:solidFill>
              <a:srgbClr val="46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1600200"/>
            <a:ext cx="9692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BEEF0"/>
                </a:solidFill>
                <a:latin typeface="Consolas"/>
              </a:defRPr>
            </a:pPr>
            <a:r>
              <a:t>HTML:  "What is on the page?"</a:t>
            </a:r>
            <a:br/>
            <a:r>
              <a:t>        ↓</a:t>
            </a:r>
            <a:br/>
            <a:r>
              <a:t>DOM:   "How the browser represents it"</a:t>
            </a:r>
            <a:br/>
            <a:r>
              <a:t>        ↓</a:t>
            </a:r>
            <a:br/>
            <a:r>
              <a:t>CSS:   "How should it look and be arranged?"</a:t>
            </a:r>
            <a:br/>
            <a:r>
              <a:t>        ↓</a:t>
            </a:r>
            <a:br/>
            <a:r>
              <a:t>Browser: "Calculate → paint → display"</a:t>
            </a:r>
            <a:br/>
            <a:br/>
            <a:r>
              <a:t>Example:</a:t>
            </a:r>
            <a:br/>
            <a:r>
              <a:t>&lt;h1 class="title"&gt;Hello&lt;/h1&gt;</a:t>
            </a:r>
            <a:br/>
            <a:br/>
            <a:r>
              <a:t>.title {</a:t>
            </a:r>
            <a:br/>
            <a:r>
              <a:t>  font-size: 3rem;</a:t>
            </a:r>
            <a:br/>
            <a:r>
              <a:t>  color: navy;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If you understand these concepts, you have the foundation for building websites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D37"/>
                </a:solidFill>
              </a:defRPr>
            </a:pPr>
            <a:r>
              <a:t>• HTML defines structure and meaning.</a:t>
            </a:r>
          </a:p>
          <a:p>
            <a:pPr>
              <a:spcAft>
                <a:spcPts val="1000"/>
              </a:spcAft>
              <a:defRPr sz="2000">
                <a:solidFill>
                  <a:srgbClr val="282D37"/>
                </a:solidFill>
              </a:defRPr>
            </a:pPr>
            <a:r>
              <a:t>• CSS defines presentation and layout.</a:t>
            </a:r>
          </a:p>
          <a:p>
            <a:pPr>
              <a:spcAft>
                <a:spcPts val="1000"/>
              </a:spcAft>
              <a:defRPr sz="2000">
                <a:solidFill>
                  <a:srgbClr val="282D37"/>
                </a:solidFill>
              </a:defRPr>
            </a:pPr>
            <a:r>
              <a:t>• External stylesheets keep structure and styling separate.</a:t>
            </a:r>
          </a:p>
          <a:p>
            <a:pPr>
              <a:spcAft>
                <a:spcPts val="1000"/>
              </a:spcAft>
              <a:defRPr sz="2000">
                <a:solidFill>
                  <a:srgbClr val="282D37"/>
                </a:solidFill>
              </a:defRPr>
            </a:pPr>
            <a:r>
              <a:t>• Relative paths connect files and assets.</a:t>
            </a:r>
          </a:p>
          <a:p>
            <a:pPr>
              <a:spcAft>
                <a:spcPts val="1000"/>
              </a:spcAft>
              <a:defRPr sz="2000">
                <a:solidFill>
                  <a:srgbClr val="282D37"/>
                </a:solidFill>
              </a:defRPr>
            </a:pPr>
            <a:r>
              <a:t>• Semantic HTML improves accessibility and maintainability.</a:t>
            </a:r>
          </a:p>
          <a:p>
            <a:pPr>
              <a:spcAft>
                <a:spcPts val="1000"/>
              </a:spcAft>
              <a:defRPr sz="2000">
                <a:solidFill>
                  <a:srgbClr val="282D37"/>
                </a:solidFill>
              </a:defRPr>
            </a:pPr>
            <a:r>
              <a:t>• Classes, selectors, the box model, Flexbox and Grid are core CSS concepts.</a:t>
            </a:r>
          </a:p>
          <a:p>
            <a:pPr>
              <a:spcAft>
                <a:spcPts val="1000"/>
              </a:spcAft>
              <a:defRPr sz="2000">
                <a:solidFill>
                  <a:srgbClr val="282D37"/>
                </a:solidFill>
              </a:defRPr>
            </a:pPr>
            <a:r>
              <a:t>• From here, JavaScript adds behavior and interactivity.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1784</Words>
  <Application>Microsoft Office PowerPoint</Application>
  <PresentationFormat>Widescreen</PresentationFormat>
  <Paragraphs>130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AcmeFont</vt:lpstr>
      <vt:lpstr>Aharoni</vt:lpstr>
      <vt:lpstr>Aptos</vt:lpstr>
      <vt:lpstr>Aptos Black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André Justin Ellerbrock</dc:creator>
  <cp:keywords/>
  <dc:description>generated using python-pptx</dc:description>
  <cp:lastModifiedBy>W E</cp:lastModifiedBy>
  <cp:revision>13</cp:revision>
  <dcterms:created xsi:type="dcterms:W3CDTF">2013-01-27T09:14:16Z</dcterms:created>
  <dcterms:modified xsi:type="dcterms:W3CDTF">2026-08-24T18:10:43Z</dcterms:modified>
  <cp:category/>
</cp:coreProperties>
</file>